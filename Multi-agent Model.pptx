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2.xml" ContentType="application/vnd.openxmlformats-officedocument.themeOverride+xml"/>
  <Override PartName="/ppt/notesSlides/notesSlide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3.xml" ContentType="application/vnd.openxmlformats-officedocument.themeOverride+xml"/>
  <Override PartName="/ppt/notesSlides/notesSlide2.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4.xml" ContentType="application/vnd.openxmlformats-officedocument.themeOverr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4.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5.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4" r:id="rId1"/>
  </p:sldMasterIdLst>
  <p:notesMasterIdLst>
    <p:notesMasterId r:id="rId37"/>
  </p:notesMasterIdLst>
  <p:sldIdLst>
    <p:sldId id="256" r:id="rId2"/>
    <p:sldId id="273" r:id="rId3"/>
    <p:sldId id="327" r:id="rId4"/>
    <p:sldId id="328" r:id="rId5"/>
    <p:sldId id="329" r:id="rId6"/>
    <p:sldId id="330" r:id="rId7"/>
    <p:sldId id="331" r:id="rId8"/>
    <p:sldId id="332" r:id="rId9"/>
    <p:sldId id="333" r:id="rId10"/>
    <p:sldId id="334" r:id="rId11"/>
    <p:sldId id="335" r:id="rId12"/>
    <p:sldId id="336" r:id="rId13"/>
    <p:sldId id="337" r:id="rId14"/>
    <p:sldId id="338" r:id="rId15"/>
    <p:sldId id="339" r:id="rId16"/>
    <p:sldId id="340" r:id="rId17"/>
    <p:sldId id="341" r:id="rId18"/>
    <p:sldId id="342" r:id="rId19"/>
    <p:sldId id="326" r:id="rId20"/>
    <p:sldId id="343" r:id="rId21"/>
    <p:sldId id="344" r:id="rId22"/>
    <p:sldId id="345" r:id="rId23"/>
    <p:sldId id="346" r:id="rId24"/>
    <p:sldId id="347" r:id="rId25"/>
    <p:sldId id="348" r:id="rId26"/>
    <p:sldId id="349" r:id="rId27"/>
    <p:sldId id="350" r:id="rId28"/>
    <p:sldId id="351" r:id="rId29"/>
    <p:sldId id="352" r:id="rId30"/>
    <p:sldId id="353" r:id="rId31"/>
    <p:sldId id="354" r:id="rId32"/>
    <p:sldId id="355" r:id="rId33"/>
    <p:sldId id="356" r:id="rId34"/>
    <p:sldId id="357" r:id="rId35"/>
    <p:sldId id="35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101"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dministrator\Downloads\resident-population-by-ethnicity-gender-and-age-group%20(1)\singapore-residents-by-age-group-ethnic-group-and-sex-end-june-annual.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Administrator\Desktop\Comparing.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Administrator\Desktop\Comparing.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Administrator\Desktop\Comparing.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Administrator\Desktop\Comparing.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Administrator\Desktop\Comparing.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Administrator\Desktop\Excel\Demographic%20Model.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Administrator\Desktop\Excel\Demographic%20Model.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C:\Users\Administrator\Desktop\Comparing.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C:\Users\Administrator\Desktop\Excel\Demographic%20Model.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C:\Users\Administrator\Desktop\Excel\Demographic%20Model.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file:///C:\Users\Administrator\Desktop\Comparing.xlsx" TargetMode="External"/><Relationship Id="rId2" Type="http://schemas.microsoft.com/office/2011/relationships/chartColorStyle" Target="colors22.xml"/><Relationship Id="rId1" Type="http://schemas.microsoft.com/office/2011/relationships/chartStyle" Target="style2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rgbClr val="FFFF00"/>
              </a:solidFill>
              <a:round/>
            </a:ln>
            <a:effectLst>
              <a:glow rad="101600">
                <a:schemeClr val="accent1">
                  <a:satMod val="175000"/>
                  <a:alpha val="40000"/>
                </a:schemeClr>
              </a:glow>
            </a:effectLst>
          </c:spPr>
          <c:marker>
            <c:symbol val="none"/>
          </c:marker>
          <c:cat>
            <c:numRef>
              <c:f>Sheet1!$J$9:$J$48</c:f>
              <c:numCache>
                <c:formatCode>General</c:formatCode>
                <c:ptCount val="40"/>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numCache>
            </c:numRef>
          </c:cat>
          <c:val>
            <c:numRef>
              <c:f>Sheet1!$K$9:$K$48</c:f>
              <c:numCache>
                <c:formatCode>0.00</c:formatCode>
                <c:ptCount val="40"/>
                <c:pt idx="0">
                  <c:v>131820</c:v>
                </c:pt>
                <c:pt idx="1">
                  <c:v>208432</c:v>
                </c:pt>
                <c:pt idx="2">
                  <c:v>280759</c:v>
                </c:pt>
                <c:pt idx="3">
                  <c:v>274896</c:v>
                </c:pt>
                <c:pt idx="4">
                  <c:v>288516</c:v>
                </c:pt>
                <c:pt idx="5">
                  <c:v>253342</c:v>
                </c:pt>
                <c:pt idx="6">
                  <c:v>214775</c:v>
                </c:pt>
                <c:pt idx="7">
                  <c:v>220925</c:v>
                </c:pt>
                <c:pt idx="8">
                  <c:v>247650</c:v>
                </c:pt>
                <c:pt idx="9">
                  <c:v>283274</c:v>
                </c:pt>
                <c:pt idx="10">
                  <c:v>311264</c:v>
                </c:pt>
                <c:pt idx="11">
                  <c:v>340379</c:v>
                </c:pt>
                <c:pt idx="12">
                  <c:v>380944</c:v>
                </c:pt>
                <c:pt idx="13">
                  <c:v>408924</c:v>
                </c:pt>
                <c:pt idx="14">
                  <c:v>459698</c:v>
                </c:pt>
                <c:pt idx="15">
                  <c:v>510991</c:v>
                </c:pt>
                <c:pt idx="16">
                  <c:v>602572</c:v>
                </c:pt>
                <c:pt idx="17">
                  <c:v>672635</c:v>
                </c:pt>
                <c:pt idx="18">
                  <c:v>747195</c:v>
                </c:pt>
                <c:pt idx="19">
                  <c:v>729042</c:v>
                </c:pt>
                <c:pt idx="20">
                  <c:v>754524</c:v>
                </c:pt>
                <c:pt idx="21">
                  <c:v>812110</c:v>
                </c:pt>
                <c:pt idx="22">
                  <c:v>793006</c:v>
                </c:pt>
                <c:pt idx="23">
                  <c:v>747935</c:v>
                </c:pt>
                <c:pt idx="24">
                  <c:v>753398</c:v>
                </c:pt>
                <c:pt idx="25">
                  <c:v>797948</c:v>
                </c:pt>
                <c:pt idx="26">
                  <c:v>875471</c:v>
                </c:pt>
                <c:pt idx="27">
                  <c:v>1005517</c:v>
                </c:pt>
                <c:pt idx="28">
                  <c:v>1196737</c:v>
                </c:pt>
                <c:pt idx="29">
                  <c:v>1253697</c:v>
                </c:pt>
                <c:pt idx="30">
                  <c:v>1305011</c:v>
                </c:pt>
                <c:pt idx="31">
                  <c:v>1394437</c:v>
                </c:pt>
                <c:pt idx="32">
                  <c:v>1494232</c:v>
                </c:pt>
                <c:pt idx="33">
                  <c:v>1554411</c:v>
                </c:pt>
                <c:pt idx="34">
                  <c:v>1598985</c:v>
                </c:pt>
                <c:pt idx="35">
                  <c:v>1632312</c:v>
                </c:pt>
                <c:pt idx="36">
                  <c:v>1673724</c:v>
                </c:pt>
                <c:pt idx="37">
                  <c:v>1646457</c:v>
                </c:pt>
                <c:pt idx="38">
                  <c:v>1644393</c:v>
                </c:pt>
                <c:pt idx="39">
                  <c:v>1677360</c:v>
                </c:pt>
              </c:numCache>
            </c:numRef>
          </c:val>
          <c:smooth val="0"/>
          <c:extLst>
            <c:ext xmlns:c16="http://schemas.microsoft.com/office/drawing/2014/chart" uri="{C3380CC4-5D6E-409C-BE32-E72D297353CC}">
              <c16:uniqueId val="{00000000-EFAB-4869-B894-4F6A5C64624D}"/>
            </c:ext>
          </c:extLst>
        </c:ser>
        <c:dLbls>
          <c:showLegendKey val="0"/>
          <c:showVal val="0"/>
          <c:showCatName val="0"/>
          <c:showSerName val="0"/>
          <c:showPercent val="0"/>
          <c:showBubbleSize val="0"/>
        </c:dLbls>
        <c:smooth val="0"/>
        <c:axId val="1970993024"/>
        <c:axId val="1970995936"/>
      </c:lineChart>
      <c:catAx>
        <c:axId val="1970993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70995936"/>
        <c:crosses val="autoZero"/>
        <c:auto val="1"/>
        <c:lblAlgn val="ctr"/>
        <c:lblOffset val="100"/>
        <c:noMultiLvlLbl val="0"/>
      </c:catAx>
      <c:valAx>
        <c:axId val="1970995936"/>
        <c:scaling>
          <c:orientation val="minMax"/>
        </c:scaling>
        <c:delete val="0"/>
        <c:axPos val="l"/>
        <c:majorGridlines>
          <c:spPr>
            <a:ln w="9525" cap="flat" cmpd="sng" algn="ctr">
              <a:solidFill>
                <a:schemeClr val="bg1">
                  <a:lumMod val="75000"/>
                  <a:lumOff val="2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70993024"/>
        <c:crosses val="autoZero"/>
        <c:crossBetween val="between"/>
      </c:valAx>
      <c:spPr>
        <a:noFill/>
        <a:ln>
          <a:solidFill>
            <a:schemeClr val="bg1">
              <a:lumMod val="75000"/>
              <a:lumOff val="25000"/>
            </a:schemeClr>
          </a:solid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SG" dirty="0"/>
              <a:t>Age distribution of PR</a:t>
            </a:r>
            <a:r>
              <a:rPr lang="en-SG" baseline="0" dirty="0"/>
              <a:t>s </a:t>
            </a:r>
            <a:endParaRPr lang="en-SG"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v>History Data</c:v>
          </c:tx>
          <c:spPr>
            <a:ln w="28575" cap="rnd">
              <a:solidFill>
                <a:srgbClr val="FF0000"/>
              </a:solidFill>
              <a:round/>
            </a:ln>
            <a:effectLst/>
          </c:spPr>
          <c:marker>
            <c:symbol val="none"/>
          </c:marker>
          <c:val>
            <c:numRef>
              <c:f>Sheet5!$A$1:$A$90</c:f>
              <c:numCache>
                <c:formatCode>General</c:formatCode>
                <c:ptCount val="90"/>
                <c:pt idx="0">
                  <c:v>18122</c:v>
                </c:pt>
                <c:pt idx="1">
                  <c:v>18122</c:v>
                </c:pt>
                <c:pt idx="2">
                  <c:v>18122</c:v>
                </c:pt>
                <c:pt idx="3">
                  <c:v>18122</c:v>
                </c:pt>
                <c:pt idx="4">
                  <c:v>18122</c:v>
                </c:pt>
                <c:pt idx="5">
                  <c:v>19486</c:v>
                </c:pt>
                <c:pt idx="6">
                  <c:v>19486</c:v>
                </c:pt>
                <c:pt idx="7">
                  <c:v>19486</c:v>
                </c:pt>
                <c:pt idx="8">
                  <c:v>19486</c:v>
                </c:pt>
                <c:pt idx="9">
                  <c:v>19486</c:v>
                </c:pt>
                <c:pt idx="10">
                  <c:v>20301</c:v>
                </c:pt>
                <c:pt idx="11">
                  <c:v>20301</c:v>
                </c:pt>
                <c:pt idx="12">
                  <c:v>20301</c:v>
                </c:pt>
                <c:pt idx="13">
                  <c:v>20301</c:v>
                </c:pt>
                <c:pt idx="14">
                  <c:v>20301</c:v>
                </c:pt>
                <c:pt idx="15">
                  <c:v>22084</c:v>
                </c:pt>
                <c:pt idx="16">
                  <c:v>22084</c:v>
                </c:pt>
                <c:pt idx="17">
                  <c:v>22084</c:v>
                </c:pt>
                <c:pt idx="18">
                  <c:v>22084</c:v>
                </c:pt>
                <c:pt idx="19">
                  <c:v>22084</c:v>
                </c:pt>
                <c:pt idx="20">
                  <c:v>25112</c:v>
                </c:pt>
                <c:pt idx="21">
                  <c:v>25112</c:v>
                </c:pt>
                <c:pt idx="22">
                  <c:v>25112</c:v>
                </c:pt>
                <c:pt idx="23">
                  <c:v>25112</c:v>
                </c:pt>
                <c:pt idx="24">
                  <c:v>25112</c:v>
                </c:pt>
                <c:pt idx="25">
                  <c:v>29575</c:v>
                </c:pt>
                <c:pt idx="26">
                  <c:v>29575</c:v>
                </c:pt>
                <c:pt idx="27">
                  <c:v>29575</c:v>
                </c:pt>
                <c:pt idx="28">
                  <c:v>29575</c:v>
                </c:pt>
                <c:pt idx="29">
                  <c:v>29575</c:v>
                </c:pt>
                <c:pt idx="30">
                  <c:v>29524</c:v>
                </c:pt>
                <c:pt idx="31">
                  <c:v>29524</c:v>
                </c:pt>
                <c:pt idx="32">
                  <c:v>29524</c:v>
                </c:pt>
                <c:pt idx="33">
                  <c:v>29524</c:v>
                </c:pt>
                <c:pt idx="34">
                  <c:v>29524</c:v>
                </c:pt>
                <c:pt idx="35">
                  <c:v>32012</c:v>
                </c:pt>
                <c:pt idx="36">
                  <c:v>32012</c:v>
                </c:pt>
                <c:pt idx="37">
                  <c:v>32012</c:v>
                </c:pt>
                <c:pt idx="38">
                  <c:v>32012</c:v>
                </c:pt>
                <c:pt idx="39">
                  <c:v>32012</c:v>
                </c:pt>
                <c:pt idx="40">
                  <c:v>31533</c:v>
                </c:pt>
                <c:pt idx="41">
                  <c:v>31533</c:v>
                </c:pt>
                <c:pt idx="42">
                  <c:v>31533</c:v>
                </c:pt>
                <c:pt idx="43">
                  <c:v>31533</c:v>
                </c:pt>
                <c:pt idx="44">
                  <c:v>31533</c:v>
                </c:pt>
                <c:pt idx="45">
                  <c:v>31605</c:v>
                </c:pt>
                <c:pt idx="46">
                  <c:v>31605</c:v>
                </c:pt>
                <c:pt idx="47">
                  <c:v>31605</c:v>
                </c:pt>
                <c:pt idx="48">
                  <c:v>31605</c:v>
                </c:pt>
                <c:pt idx="49">
                  <c:v>31605</c:v>
                </c:pt>
                <c:pt idx="50">
                  <c:v>31011</c:v>
                </c:pt>
                <c:pt idx="51">
                  <c:v>31011</c:v>
                </c:pt>
                <c:pt idx="52">
                  <c:v>31011</c:v>
                </c:pt>
                <c:pt idx="53">
                  <c:v>31011</c:v>
                </c:pt>
                <c:pt idx="54">
                  <c:v>31011</c:v>
                </c:pt>
                <c:pt idx="55">
                  <c:v>30372</c:v>
                </c:pt>
                <c:pt idx="56">
                  <c:v>30372</c:v>
                </c:pt>
                <c:pt idx="57">
                  <c:v>30372</c:v>
                </c:pt>
                <c:pt idx="58">
                  <c:v>30372</c:v>
                </c:pt>
                <c:pt idx="59">
                  <c:v>30372</c:v>
                </c:pt>
                <c:pt idx="60">
                  <c:v>27352</c:v>
                </c:pt>
                <c:pt idx="61">
                  <c:v>27352</c:v>
                </c:pt>
                <c:pt idx="62">
                  <c:v>27352</c:v>
                </c:pt>
                <c:pt idx="63">
                  <c:v>27352</c:v>
                </c:pt>
                <c:pt idx="64">
                  <c:v>27352</c:v>
                </c:pt>
                <c:pt idx="65">
                  <c:v>21669</c:v>
                </c:pt>
                <c:pt idx="66">
                  <c:v>21669</c:v>
                </c:pt>
                <c:pt idx="67">
                  <c:v>21669</c:v>
                </c:pt>
                <c:pt idx="68">
                  <c:v>21669</c:v>
                </c:pt>
                <c:pt idx="69">
                  <c:v>21669</c:v>
                </c:pt>
                <c:pt idx="70">
                  <c:v>14303</c:v>
                </c:pt>
                <c:pt idx="71">
                  <c:v>14303</c:v>
                </c:pt>
                <c:pt idx="72">
                  <c:v>14303</c:v>
                </c:pt>
                <c:pt idx="73">
                  <c:v>14303</c:v>
                </c:pt>
                <c:pt idx="74">
                  <c:v>14303</c:v>
                </c:pt>
                <c:pt idx="75">
                  <c:v>10408</c:v>
                </c:pt>
                <c:pt idx="76">
                  <c:v>10408</c:v>
                </c:pt>
                <c:pt idx="77">
                  <c:v>10408</c:v>
                </c:pt>
                <c:pt idx="78">
                  <c:v>10408</c:v>
                </c:pt>
                <c:pt idx="79">
                  <c:v>10408</c:v>
                </c:pt>
                <c:pt idx="80">
                  <c:v>6665</c:v>
                </c:pt>
                <c:pt idx="81">
                  <c:v>6665</c:v>
                </c:pt>
                <c:pt idx="82">
                  <c:v>6665</c:v>
                </c:pt>
                <c:pt idx="83">
                  <c:v>6665</c:v>
                </c:pt>
                <c:pt idx="84">
                  <c:v>6665</c:v>
                </c:pt>
                <c:pt idx="85">
                  <c:v>6554</c:v>
                </c:pt>
                <c:pt idx="86">
                  <c:v>6554</c:v>
                </c:pt>
                <c:pt idx="87">
                  <c:v>6554</c:v>
                </c:pt>
                <c:pt idx="88">
                  <c:v>6554</c:v>
                </c:pt>
                <c:pt idx="89">
                  <c:v>6554</c:v>
                </c:pt>
              </c:numCache>
            </c:numRef>
          </c:val>
          <c:smooth val="0"/>
          <c:extLst>
            <c:ext xmlns:c16="http://schemas.microsoft.com/office/drawing/2014/chart" uri="{C3380CC4-5D6E-409C-BE32-E72D297353CC}">
              <c16:uniqueId val="{00000000-4D65-4CE2-AD77-5795E6838CC1}"/>
            </c:ext>
          </c:extLst>
        </c:ser>
        <c:ser>
          <c:idx val="1"/>
          <c:order val="1"/>
          <c:tx>
            <c:v>Simulated Data</c:v>
          </c:tx>
          <c:spPr>
            <a:ln w="28575" cap="rnd">
              <a:solidFill>
                <a:srgbClr val="FFFF00"/>
              </a:solidFill>
              <a:round/>
            </a:ln>
            <a:effectLst/>
          </c:spPr>
          <c:marker>
            <c:symbol val="none"/>
          </c:marker>
          <c:val>
            <c:numRef>
              <c:f>Sheet5!$B$1:$B$90</c:f>
              <c:numCache>
                <c:formatCode>General</c:formatCode>
                <c:ptCount val="90"/>
                <c:pt idx="0">
                  <c:v>18122</c:v>
                </c:pt>
                <c:pt idx="1">
                  <c:v>18138.839506172841</c:v>
                </c:pt>
                <c:pt idx="2">
                  <c:v>18206.1975308642</c:v>
                </c:pt>
                <c:pt idx="3">
                  <c:v>18374.592592592595</c:v>
                </c:pt>
                <c:pt idx="4">
                  <c:v>18644.024691358023</c:v>
                </c:pt>
                <c:pt idx="5">
                  <c:v>18963.975308641977</c:v>
                </c:pt>
                <c:pt idx="6">
                  <c:v>19243.469135802468</c:v>
                </c:pt>
                <c:pt idx="7">
                  <c:v>19452.111111111113</c:v>
                </c:pt>
                <c:pt idx="8">
                  <c:v>19620.08641975309</c:v>
                </c:pt>
                <c:pt idx="9">
                  <c:v>19797.913580246914</c:v>
                </c:pt>
                <c:pt idx="10">
                  <c:v>19989.086419753086</c:v>
                </c:pt>
                <c:pt idx="11">
                  <c:v>20172.086419753086</c:v>
                </c:pt>
                <c:pt idx="12">
                  <c:v>20360.753086419751</c:v>
                </c:pt>
                <c:pt idx="13">
                  <c:v>20621.123456790123</c:v>
                </c:pt>
                <c:pt idx="14">
                  <c:v>20983.382716049382</c:v>
                </c:pt>
                <c:pt idx="15">
                  <c:v>21401.617283950618</c:v>
                </c:pt>
                <c:pt idx="16">
                  <c:v>21791.1975308642</c:v>
                </c:pt>
                <c:pt idx="17">
                  <c:v>22160.85185185185</c:v>
                </c:pt>
                <c:pt idx="18">
                  <c:v>22622.728395061724</c:v>
                </c:pt>
                <c:pt idx="19">
                  <c:v>23242.86419753086</c:v>
                </c:pt>
                <c:pt idx="20">
                  <c:v>23953.135802469133</c:v>
                </c:pt>
                <c:pt idx="21">
                  <c:v>24606.358024691359</c:v>
                </c:pt>
                <c:pt idx="22">
                  <c:v>25200.580246913582</c:v>
                </c:pt>
                <c:pt idx="23">
                  <c:v>25901.098765432096</c:v>
                </c:pt>
                <c:pt idx="24">
                  <c:v>26820.06172839506</c:v>
                </c:pt>
                <c:pt idx="25">
                  <c:v>27866.93827160494</c:v>
                </c:pt>
                <c:pt idx="26">
                  <c:v>28747.888888888891</c:v>
                </c:pt>
                <c:pt idx="27">
                  <c:v>29296.358024691359</c:v>
                </c:pt>
                <c:pt idx="28">
                  <c:v>29510.456790123455</c:v>
                </c:pt>
                <c:pt idx="29">
                  <c:v>29555.481481481478</c:v>
                </c:pt>
                <c:pt idx="30">
                  <c:v>29543.518518518522</c:v>
                </c:pt>
                <c:pt idx="31">
                  <c:v>29564.160493827163</c:v>
                </c:pt>
                <c:pt idx="32">
                  <c:v>29680.728395061727</c:v>
                </c:pt>
                <c:pt idx="33">
                  <c:v>29985.370370370365</c:v>
                </c:pt>
                <c:pt idx="34">
                  <c:v>30476.197530864196</c:v>
                </c:pt>
                <c:pt idx="35">
                  <c:v>31059.8024691358</c:v>
                </c:pt>
                <c:pt idx="36">
                  <c:v>31545.345679012345</c:v>
                </c:pt>
                <c:pt idx="37">
                  <c:v>31828.851851851854</c:v>
                </c:pt>
                <c:pt idx="38">
                  <c:v>31892.580246913582</c:v>
                </c:pt>
                <c:pt idx="39">
                  <c:v>31828.679012345678</c:v>
                </c:pt>
                <c:pt idx="40">
                  <c:v>31716.320987654322</c:v>
                </c:pt>
                <c:pt idx="41">
                  <c:v>31622.592592592588</c:v>
                </c:pt>
                <c:pt idx="42">
                  <c:v>31567.012345679013</c:v>
                </c:pt>
                <c:pt idx="43">
                  <c:v>31552.246913580249</c:v>
                </c:pt>
                <c:pt idx="44">
                  <c:v>31560.555555555558</c:v>
                </c:pt>
                <c:pt idx="45">
                  <c:v>31577.444444444442</c:v>
                </c:pt>
                <c:pt idx="46">
                  <c:v>31584.333333333332</c:v>
                </c:pt>
                <c:pt idx="47">
                  <c:v>31563.888888888887</c:v>
                </c:pt>
                <c:pt idx="48">
                  <c:v>31494.111111111109</c:v>
                </c:pt>
                <c:pt idx="49">
                  <c:v>31377.666666666668</c:v>
                </c:pt>
                <c:pt idx="50">
                  <c:v>31238.333333333332</c:v>
                </c:pt>
                <c:pt idx="51">
                  <c:v>31113.111111111109</c:v>
                </c:pt>
                <c:pt idx="52">
                  <c:v>31008.222222222219</c:v>
                </c:pt>
                <c:pt idx="53">
                  <c:v>30900</c:v>
                </c:pt>
                <c:pt idx="54">
                  <c:v>30766.444444444442</c:v>
                </c:pt>
                <c:pt idx="55">
                  <c:v>30616.555555555558</c:v>
                </c:pt>
                <c:pt idx="56">
                  <c:v>30453.04938271605</c:v>
                </c:pt>
                <c:pt idx="57">
                  <c:v>30225.024691358023</c:v>
                </c:pt>
                <c:pt idx="58">
                  <c:v>29820.629629629624</c:v>
                </c:pt>
                <c:pt idx="59">
                  <c:v>29216.197530864196</c:v>
                </c:pt>
                <c:pt idx="60">
                  <c:v>28507.8024691358</c:v>
                </c:pt>
                <c:pt idx="61">
                  <c:v>27841.098765432103</c:v>
                </c:pt>
                <c:pt idx="62">
                  <c:v>27187.617283950618</c:v>
                </c:pt>
                <c:pt idx="63">
                  <c:v>26336.876543209877</c:v>
                </c:pt>
                <c:pt idx="64">
                  <c:v>25177.024691358023</c:v>
                </c:pt>
                <c:pt idx="65">
                  <c:v>23843.975308641977</c:v>
                </c:pt>
                <c:pt idx="66">
                  <c:v>22630.469135802472</c:v>
                </c:pt>
                <c:pt idx="67">
                  <c:v>21565.111111111113</c:v>
                </c:pt>
                <c:pt idx="68">
                  <c:v>20375.08641975309</c:v>
                </c:pt>
                <c:pt idx="69">
                  <c:v>18849.913580246914</c:v>
                </c:pt>
                <c:pt idx="70">
                  <c:v>17122.086419753086</c:v>
                </c:pt>
                <c:pt idx="71">
                  <c:v>15618.987654320988</c:v>
                </c:pt>
                <c:pt idx="72">
                  <c:v>14517.259259259257</c:v>
                </c:pt>
                <c:pt idx="73">
                  <c:v>13672.641975308643</c:v>
                </c:pt>
                <c:pt idx="74">
                  <c:v>12812.320987654321</c:v>
                </c:pt>
                <c:pt idx="75">
                  <c:v>11898.679012345679</c:v>
                </c:pt>
                <c:pt idx="76">
                  <c:v>11083.086419753085</c:v>
                </c:pt>
                <c:pt idx="77">
                  <c:v>10417.382716049382</c:v>
                </c:pt>
                <c:pt idx="78">
                  <c:v>9762.9382716049386</c:v>
                </c:pt>
                <c:pt idx="79">
                  <c:v>8975.4938271604933</c:v>
                </c:pt>
                <c:pt idx="80">
                  <c:v>8097.5061728395058</c:v>
                </c:pt>
                <c:pt idx="81">
                  <c:v>7356.7777777777774</c:v>
                </c:pt>
                <c:pt idx="82">
                  <c:v>6889.1975308641968</c:v>
                </c:pt>
                <c:pt idx="83">
                  <c:v>6690.6543209876545</c:v>
                </c:pt>
                <c:pt idx="84">
                  <c:v>6622.5185185185182</c:v>
                </c:pt>
                <c:pt idx="85">
                  <c:v>6596.4814814814818</c:v>
                </c:pt>
                <c:pt idx="86">
                  <c:v>6574.5555555555547</c:v>
                </c:pt>
                <c:pt idx="87">
                  <c:v>6560.8518518518513</c:v>
                </c:pt>
                <c:pt idx="88">
                  <c:v>6555.3703703703695</c:v>
                </c:pt>
                <c:pt idx="89">
                  <c:v>6554</c:v>
                </c:pt>
              </c:numCache>
            </c:numRef>
          </c:val>
          <c:smooth val="0"/>
          <c:extLst>
            <c:ext xmlns:c16="http://schemas.microsoft.com/office/drawing/2014/chart" uri="{C3380CC4-5D6E-409C-BE32-E72D297353CC}">
              <c16:uniqueId val="{00000001-4D65-4CE2-AD77-5795E6838CC1}"/>
            </c:ext>
          </c:extLst>
        </c:ser>
        <c:dLbls>
          <c:showLegendKey val="0"/>
          <c:showVal val="0"/>
          <c:showCatName val="0"/>
          <c:showSerName val="0"/>
          <c:showPercent val="0"/>
          <c:showBubbleSize val="0"/>
        </c:dLbls>
        <c:smooth val="0"/>
        <c:axId val="1664579040"/>
        <c:axId val="1966179456"/>
      </c:lineChart>
      <c:catAx>
        <c:axId val="1664579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1966179456"/>
        <c:crosses val="autoZero"/>
        <c:auto val="1"/>
        <c:lblAlgn val="ctr"/>
        <c:lblOffset val="100"/>
        <c:noMultiLvlLbl val="0"/>
      </c:catAx>
      <c:valAx>
        <c:axId val="1966179456"/>
        <c:scaling>
          <c:orientation val="minMax"/>
        </c:scaling>
        <c:delete val="0"/>
        <c:axPos val="l"/>
        <c:majorGridlines>
          <c:spPr>
            <a:ln w="9525" cap="flat" cmpd="sng" algn="ctr">
              <a:solidFill>
                <a:schemeClr val="bg1">
                  <a:lumMod val="75000"/>
                  <a:lumOff val="25000"/>
                  <a:alpha val="98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6645790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spPr>
            <a:ln w="34925" cap="rnd">
              <a:solidFill>
                <a:srgbClr val="FF0000"/>
              </a:solidFill>
              <a:round/>
            </a:ln>
            <a:effectLst/>
          </c:spPr>
          <c:marker>
            <c:symbol val="none"/>
          </c:marker>
          <c:trendline>
            <c:spPr>
              <a:ln w="19050" cap="rnd">
                <a:solidFill>
                  <a:srgbClr val="FFFF00"/>
                </a:solidFill>
              </a:ln>
              <a:effectLst/>
            </c:spPr>
            <c:trendlineType val="log"/>
            <c:dispRSqr val="0"/>
            <c:dispEq val="1"/>
            <c:trendlineLbl>
              <c:layout>
                <c:manualLayout>
                  <c:x val="-7.2142142388451444E-2"/>
                  <c:y val="0.11801988001294915"/>
                </c:manualLayout>
              </c:layout>
              <c:numFmt formatCode="General" sourceLinked="0"/>
              <c:spPr>
                <a:noFill/>
                <a:ln>
                  <a:noFill/>
                </a:ln>
                <a:effectLst/>
              </c:spPr>
              <c:txPr>
                <a:bodyPr rot="0" spcFirstLastPara="1" vertOverflow="ellipsis" vert="horz" wrap="square" anchor="ctr" anchorCtr="1"/>
                <a:lstStyle/>
                <a:p>
                  <a:pPr>
                    <a:defRPr sz="2000" b="0" i="0" u="none" strike="noStrike" kern="1200" baseline="0">
                      <a:solidFill>
                        <a:schemeClr val="lt1">
                          <a:lumMod val="85000"/>
                        </a:schemeClr>
                      </a:solidFill>
                      <a:latin typeface="+mn-lt"/>
                      <a:ea typeface="+mn-ea"/>
                      <a:cs typeface="+mn-cs"/>
                    </a:defRPr>
                  </a:pPr>
                  <a:endParaRPr lang="en-US"/>
                </a:p>
              </c:txPr>
            </c:trendlineLbl>
          </c:trendline>
          <c:cat>
            <c:numRef>
              <c:f>Sheet1!$A$1:$A$29</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Sheet1!$B$1:$B$29</c:f>
              <c:numCache>
                <c:formatCode>General</c:formatCode>
                <c:ptCount val="29"/>
                <c:pt idx="0">
                  <c:v>1.4</c:v>
                </c:pt>
                <c:pt idx="1">
                  <c:v>1.4</c:v>
                </c:pt>
                <c:pt idx="2">
                  <c:v>1.3</c:v>
                </c:pt>
                <c:pt idx="3">
                  <c:v>1.3</c:v>
                </c:pt>
                <c:pt idx="4">
                  <c:v>1.1000000000000001</c:v>
                </c:pt>
                <c:pt idx="5">
                  <c:v>1.2</c:v>
                </c:pt>
                <c:pt idx="6">
                  <c:v>1.1000000000000001</c:v>
                </c:pt>
                <c:pt idx="7">
                  <c:v>1.1000000000000001</c:v>
                </c:pt>
                <c:pt idx="8">
                  <c:v>1</c:v>
                </c:pt>
                <c:pt idx="9">
                  <c:v>1</c:v>
                </c:pt>
                <c:pt idx="10">
                  <c:v>1</c:v>
                </c:pt>
                <c:pt idx="11">
                  <c:v>0.9</c:v>
                </c:pt>
                <c:pt idx="12">
                  <c:v>0.8</c:v>
                </c:pt>
                <c:pt idx="13">
                  <c:v>0.8</c:v>
                </c:pt>
                <c:pt idx="14">
                  <c:v>1</c:v>
                </c:pt>
                <c:pt idx="15">
                  <c:v>0.9</c:v>
                </c:pt>
                <c:pt idx="16">
                  <c:v>0.9</c:v>
                </c:pt>
                <c:pt idx="17">
                  <c:v>0.9</c:v>
                </c:pt>
                <c:pt idx="18">
                  <c:v>0.9</c:v>
                </c:pt>
                <c:pt idx="19">
                  <c:v>0.7</c:v>
                </c:pt>
                <c:pt idx="20">
                  <c:v>0.7</c:v>
                </c:pt>
                <c:pt idx="21">
                  <c:v>0.8</c:v>
                </c:pt>
                <c:pt idx="22">
                  <c:v>0.7</c:v>
                </c:pt>
                <c:pt idx="23">
                  <c:v>0.7</c:v>
                </c:pt>
                <c:pt idx="24">
                  <c:v>0.7</c:v>
                </c:pt>
                <c:pt idx="25">
                  <c:v>0.6</c:v>
                </c:pt>
                <c:pt idx="26">
                  <c:v>0.8</c:v>
                </c:pt>
                <c:pt idx="27">
                  <c:v>0.5</c:v>
                </c:pt>
                <c:pt idx="28">
                  <c:v>0.5</c:v>
                </c:pt>
              </c:numCache>
            </c:numRef>
          </c:val>
          <c:smooth val="0"/>
          <c:extLst>
            <c:ext xmlns:c16="http://schemas.microsoft.com/office/drawing/2014/chart" uri="{C3380CC4-5D6E-409C-BE32-E72D297353CC}">
              <c16:uniqueId val="{00000000-BC33-4E69-AF63-14754A768E70}"/>
            </c:ext>
          </c:extLst>
        </c:ser>
        <c:dLbls>
          <c:showLegendKey val="0"/>
          <c:showVal val="0"/>
          <c:showCatName val="0"/>
          <c:showSerName val="0"/>
          <c:showPercent val="0"/>
          <c:showBubbleSize val="0"/>
        </c:dLbls>
        <c:smooth val="0"/>
        <c:axId val="2026128527"/>
        <c:axId val="2026133935"/>
      </c:lineChart>
      <c:catAx>
        <c:axId val="2026128527"/>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2000" b="0" i="0" u="none" strike="noStrike" kern="1200" baseline="0">
                <a:solidFill>
                  <a:schemeClr val="lt1">
                    <a:lumMod val="85000"/>
                  </a:schemeClr>
                </a:solidFill>
                <a:latin typeface="+mn-lt"/>
                <a:ea typeface="+mn-ea"/>
                <a:cs typeface="+mn-cs"/>
              </a:defRPr>
            </a:pPr>
            <a:endParaRPr lang="en-US"/>
          </a:p>
        </c:txPr>
        <c:crossAx val="2026133935"/>
        <c:crosses val="autoZero"/>
        <c:auto val="1"/>
        <c:lblAlgn val="ctr"/>
        <c:lblOffset val="100"/>
        <c:noMultiLvlLbl val="0"/>
      </c:catAx>
      <c:valAx>
        <c:axId val="2026133935"/>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lt1">
                    <a:lumMod val="85000"/>
                  </a:schemeClr>
                </a:solidFill>
                <a:latin typeface="+mn-lt"/>
                <a:ea typeface="+mn-ea"/>
                <a:cs typeface="+mn-cs"/>
              </a:defRPr>
            </a:pPr>
            <a:endParaRPr lang="en-US"/>
          </a:p>
        </c:txPr>
        <c:crossAx val="2026128527"/>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spPr>
            <a:ln w="34925" cap="rnd">
              <a:solidFill>
                <a:srgbClr val="FF0000"/>
              </a:solidFill>
              <a:round/>
            </a:ln>
            <a:effectLst/>
          </c:spPr>
          <c:marker>
            <c:symbol val="none"/>
          </c:marker>
          <c:trendline>
            <c:spPr>
              <a:ln w="19050" cap="rnd">
                <a:solidFill>
                  <a:srgbClr val="FFFF00"/>
                </a:solidFill>
              </a:ln>
              <a:effectLst/>
            </c:spPr>
            <c:trendlineType val="exp"/>
            <c:dispRSqr val="0"/>
            <c:dispEq val="1"/>
            <c:trendlineLbl>
              <c:layout>
                <c:manualLayout>
                  <c:x val="-7.6842258752743628E-2"/>
                  <c:y val="0.12774664047071485"/>
                </c:manualLayout>
              </c:layout>
              <c:numFmt formatCode="General" sourceLinked="0"/>
              <c:spPr>
                <a:noFill/>
                <a:ln>
                  <a:noFill/>
                </a:ln>
                <a:effectLst/>
              </c:spPr>
              <c:txPr>
                <a:bodyPr rot="0" spcFirstLastPara="1" vertOverflow="ellipsis" vert="horz" wrap="square" anchor="ctr" anchorCtr="1"/>
                <a:lstStyle/>
                <a:p>
                  <a:pPr>
                    <a:defRPr sz="2000" b="0" i="0" u="none" strike="noStrike" kern="1200" baseline="0">
                      <a:solidFill>
                        <a:schemeClr val="lt1">
                          <a:lumMod val="85000"/>
                        </a:schemeClr>
                      </a:solidFill>
                      <a:latin typeface="+mn-lt"/>
                      <a:ea typeface="+mn-ea"/>
                      <a:cs typeface="+mn-cs"/>
                    </a:defRPr>
                  </a:pPr>
                  <a:endParaRPr lang="en-US"/>
                </a:p>
              </c:txPr>
            </c:trendlineLbl>
          </c:trendline>
          <c:cat>
            <c:numRef>
              <c:f>Sheet1!$A$1:$A$29</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Sheet1!$B$1:$B$29</c:f>
              <c:numCache>
                <c:formatCode>General</c:formatCode>
                <c:ptCount val="29"/>
                <c:pt idx="0">
                  <c:v>58.7</c:v>
                </c:pt>
                <c:pt idx="1">
                  <c:v>53.5</c:v>
                </c:pt>
                <c:pt idx="2">
                  <c:v>52.1</c:v>
                </c:pt>
                <c:pt idx="3">
                  <c:v>49.8</c:v>
                </c:pt>
                <c:pt idx="4">
                  <c:v>46.9</c:v>
                </c:pt>
                <c:pt idx="5">
                  <c:v>46.9</c:v>
                </c:pt>
                <c:pt idx="6">
                  <c:v>44.8</c:v>
                </c:pt>
                <c:pt idx="7">
                  <c:v>42</c:v>
                </c:pt>
                <c:pt idx="8">
                  <c:v>39.700000000000003</c:v>
                </c:pt>
                <c:pt idx="9">
                  <c:v>37.299999999999997</c:v>
                </c:pt>
                <c:pt idx="10">
                  <c:v>42.2</c:v>
                </c:pt>
                <c:pt idx="11">
                  <c:v>35.700000000000003</c:v>
                </c:pt>
                <c:pt idx="12">
                  <c:v>34.6</c:v>
                </c:pt>
                <c:pt idx="13">
                  <c:v>32.4</c:v>
                </c:pt>
                <c:pt idx="14">
                  <c:v>32.200000000000003</c:v>
                </c:pt>
                <c:pt idx="15">
                  <c:v>32.5</c:v>
                </c:pt>
                <c:pt idx="16">
                  <c:v>30.6</c:v>
                </c:pt>
                <c:pt idx="17">
                  <c:v>31.2</c:v>
                </c:pt>
                <c:pt idx="18">
                  <c:v>29.1</c:v>
                </c:pt>
                <c:pt idx="19">
                  <c:v>25.4</c:v>
                </c:pt>
                <c:pt idx="20">
                  <c:v>23.3</c:v>
                </c:pt>
                <c:pt idx="21">
                  <c:v>22.4</c:v>
                </c:pt>
                <c:pt idx="22">
                  <c:v>22.2</c:v>
                </c:pt>
                <c:pt idx="23">
                  <c:v>19.7</c:v>
                </c:pt>
                <c:pt idx="24">
                  <c:v>19.5</c:v>
                </c:pt>
                <c:pt idx="25">
                  <c:v>18.7</c:v>
                </c:pt>
                <c:pt idx="26">
                  <c:v>17</c:v>
                </c:pt>
                <c:pt idx="27">
                  <c:v>15.1</c:v>
                </c:pt>
                <c:pt idx="28">
                  <c:v>14.5</c:v>
                </c:pt>
              </c:numCache>
            </c:numRef>
          </c:val>
          <c:smooth val="0"/>
          <c:extLst>
            <c:ext xmlns:c16="http://schemas.microsoft.com/office/drawing/2014/chart" uri="{C3380CC4-5D6E-409C-BE32-E72D297353CC}">
              <c16:uniqueId val="{00000000-3DB3-47E3-97B7-F99EA0A6328E}"/>
            </c:ext>
          </c:extLst>
        </c:ser>
        <c:dLbls>
          <c:showLegendKey val="0"/>
          <c:showVal val="0"/>
          <c:showCatName val="0"/>
          <c:showSerName val="0"/>
          <c:showPercent val="0"/>
          <c:showBubbleSize val="0"/>
        </c:dLbls>
        <c:smooth val="0"/>
        <c:axId val="2091356959"/>
        <c:axId val="2091355295"/>
      </c:lineChart>
      <c:catAx>
        <c:axId val="2091356959"/>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2000" b="0" i="0" u="none" strike="noStrike" kern="1200" baseline="0">
                <a:solidFill>
                  <a:schemeClr val="lt1">
                    <a:lumMod val="85000"/>
                  </a:schemeClr>
                </a:solidFill>
                <a:latin typeface="+mn-lt"/>
                <a:ea typeface="+mn-ea"/>
                <a:cs typeface="+mn-cs"/>
              </a:defRPr>
            </a:pPr>
            <a:endParaRPr lang="en-US"/>
          </a:p>
        </c:txPr>
        <c:crossAx val="2091355295"/>
        <c:crosses val="autoZero"/>
        <c:auto val="1"/>
        <c:lblAlgn val="ctr"/>
        <c:lblOffset val="100"/>
        <c:noMultiLvlLbl val="0"/>
      </c:catAx>
      <c:valAx>
        <c:axId val="2091355295"/>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lt1">
                    <a:lumMod val="85000"/>
                  </a:schemeClr>
                </a:solidFill>
                <a:latin typeface="+mn-lt"/>
                <a:ea typeface="+mn-ea"/>
                <a:cs typeface="+mn-cs"/>
              </a:defRPr>
            </a:pPr>
            <a:endParaRPr lang="en-US"/>
          </a:p>
        </c:txPr>
        <c:crossAx val="2091356959"/>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spPr>
            <a:ln w="34925" cap="rnd">
              <a:solidFill>
                <a:srgbClr val="FF0000"/>
              </a:solidFill>
              <a:round/>
            </a:ln>
            <a:effectLst/>
          </c:spPr>
          <c:marker>
            <c:symbol val="none"/>
          </c:marker>
          <c:trendline>
            <c:spPr>
              <a:ln w="19050" cap="rnd">
                <a:solidFill>
                  <a:srgbClr val="FFFF00"/>
                </a:solidFill>
              </a:ln>
              <a:effectLst/>
            </c:spPr>
            <c:trendlineType val="exp"/>
            <c:dispRSqr val="0"/>
            <c:dispEq val="1"/>
            <c:trendlineLbl>
              <c:layout>
                <c:manualLayout>
                  <c:x val="2.7032870040325966E-4"/>
                  <c:y val="0.1093116978322717"/>
                </c:manualLayout>
              </c:layout>
              <c:numFmt formatCode="General" sourceLinked="0"/>
              <c:spPr>
                <a:noFill/>
                <a:ln>
                  <a:noFill/>
                </a:ln>
                <a:effectLst/>
              </c:spPr>
              <c:txPr>
                <a:bodyPr rot="0" spcFirstLastPara="1" vertOverflow="ellipsis" vert="horz" wrap="square" anchor="ctr" anchorCtr="1"/>
                <a:lstStyle/>
                <a:p>
                  <a:pPr>
                    <a:defRPr sz="2000" b="0" i="0" u="none" strike="noStrike" kern="1200" baseline="0">
                      <a:solidFill>
                        <a:schemeClr val="lt1">
                          <a:lumMod val="85000"/>
                        </a:schemeClr>
                      </a:solidFill>
                      <a:latin typeface="+mn-lt"/>
                      <a:ea typeface="+mn-ea"/>
                      <a:cs typeface="+mn-cs"/>
                    </a:defRPr>
                  </a:pPr>
                  <a:endParaRPr lang="en-US"/>
                </a:p>
              </c:txPr>
            </c:trendlineLbl>
          </c:trendline>
          <c:cat>
            <c:numRef>
              <c:f>Sheet1!$A$1:$A$28</c:f>
              <c:numCache>
                <c:formatCode>General</c:formatCode>
                <c:ptCount val="28"/>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numCache>
            </c:numRef>
          </c:cat>
          <c:val>
            <c:numRef>
              <c:f>Sheet1!$B$1:$B$28</c:f>
              <c:numCache>
                <c:formatCode>General</c:formatCode>
                <c:ptCount val="28"/>
                <c:pt idx="0">
                  <c:v>35.1</c:v>
                </c:pt>
                <c:pt idx="1">
                  <c:v>35.4</c:v>
                </c:pt>
                <c:pt idx="2">
                  <c:v>32.5</c:v>
                </c:pt>
                <c:pt idx="3">
                  <c:v>29.4</c:v>
                </c:pt>
                <c:pt idx="4">
                  <c:v>29.5</c:v>
                </c:pt>
                <c:pt idx="5">
                  <c:v>29.3</c:v>
                </c:pt>
                <c:pt idx="6">
                  <c:v>28</c:v>
                </c:pt>
                <c:pt idx="7">
                  <c:v>33.200000000000003</c:v>
                </c:pt>
                <c:pt idx="8">
                  <c:v>26.9</c:v>
                </c:pt>
                <c:pt idx="9">
                  <c:v>28.8</c:v>
                </c:pt>
                <c:pt idx="10">
                  <c:v>23.7</c:v>
                </c:pt>
                <c:pt idx="11">
                  <c:v>22</c:v>
                </c:pt>
                <c:pt idx="12">
                  <c:v>20.5</c:v>
                </c:pt>
                <c:pt idx="13">
                  <c:v>18.7</c:v>
                </c:pt>
                <c:pt idx="14">
                  <c:v>19</c:v>
                </c:pt>
                <c:pt idx="15">
                  <c:v>17.399999999999999</c:v>
                </c:pt>
                <c:pt idx="16">
                  <c:v>16.7</c:v>
                </c:pt>
                <c:pt idx="17">
                  <c:v>15.9</c:v>
                </c:pt>
                <c:pt idx="18">
                  <c:v>14.4</c:v>
                </c:pt>
                <c:pt idx="19">
                  <c:v>12.7</c:v>
                </c:pt>
                <c:pt idx="20">
                  <c:v>11.7</c:v>
                </c:pt>
                <c:pt idx="21">
                  <c:v>11.1</c:v>
                </c:pt>
                <c:pt idx="22">
                  <c:v>12.2</c:v>
                </c:pt>
                <c:pt idx="23">
                  <c:v>10.9</c:v>
                </c:pt>
                <c:pt idx="24">
                  <c:v>10.7</c:v>
                </c:pt>
                <c:pt idx="25">
                  <c:v>10.1</c:v>
                </c:pt>
                <c:pt idx="26">
                  <c:v>9.1999999999999993</c:v>
                </c:pt>
                <c:pt idx="27">
                  <c:v>9.3000000000000007</c:v>
                </c:pt>
              </c:numCache>
            </c:numRef>
          </c:val>
          <c:smooth val="0"/>
          <c:extLst>
            <c:ext xmlns:c16="http://schemas.microsoft.com/office/drawing/2014/chart" uri="{C3380CC4-5D6E-409C-BE32-E72D297353CC}">
              <c16:uniqueId val="{00000000-06E7-42FA-9D92-085D6AF5478C}"/>
            </c:ext>
          </c:extLst>
        </c:ser>
        <c:dLbls>
          <c:showLegendKey val="0"/>
          <c:showVal val="0"/>
          <c:showCatName val="0"/>
          <c:showSerName val="0"/>
          <c:showPercent val="0"/>
          <c:showBubbleSize val="0"/>
        </c:dLbls>
        <c:smooth val="0"/>
        <c:axId val="1774191151"/>
        <c:axId val="1774190319"/>
      </c:lineChart>
      <c:catAx>
        <c:axId val="1774191151"/>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2000" b="0" i="0" u="none" strike="noStrike" kern="1200" baseline="0">
                <a:solidFill>
                  <a:schemeClr val="lt1">
                    <a:lumMod val="85000"/>
                  </a:schemeClr>
                </a:solidFill>
                <a:latin typeface="+mn-lt"/>
                <a:ea typeface="+mn-ea"/>
                <a:cs typeface="+mn-cs"/>
              </a:defRPr>
            </a:pPr>
            <a:endParaRPr lang="en-US"/>
          </a:p>
        </c:txPr>
        <c:crossAx val="1774190319"/>
        <c:crosses val="autoZero"/>
        <c:auto val="1"/>
        <c:lblAlgn val="ctr"/>
        <c:lblOffset val="100"/>
        <c:noMultiLvlLbl val="0"/>
      </c:catAx>
      <c:valAx>
        <c:axId val="1774190319"/>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lt1">
                    <a:lumMod val="85000"/>
                  </a:schemeClr>
                </a:solidFill>
                <a:latin typeface="+mn-lt"/>
                <a:ea typeface="+mn-ea"/>
                <a:cs typeface="+mn-cs"/>
              </a:defRPr>
            </a:pPr>
            <a:endParaRPr lang="en-US"/>
          </a:p>
        </c:txPr>
        <c:crossAx val="1774191151"/>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spPr>
            <a:ln w="34925" cap="rnd">
              <a:solidFill>
                <a:srgbClr val="FF0000"/>
              </a:solidFill>
              <a:round/>
            </a:ln>
            <a:effectLst/>
          </c:spPr>
          <c:marker>
            <c:symbol val="none"/>
          </c:marker>
          <c:trendline>
            <c:spPr>
              <a:ln w="19050" cap="rnd">
                <a:solidFill>
                  <a:srgbClr val="FFFF00"/>
                </a:solidFill>
              </a:ln>
              <a:effectLst/>
            </c:spPr>
            <c:trendlineType val="log"/>
            <c:dispRSqr val="0"/>
            <c:dispEq val="1"/>
            <c:trendlineLbl>
              <c:layout>
                <c:manualLayout>
                  <c:x val="1.9682753908740327E-2"/>
                  <c:y val="0.30036572307295945"/>
                </c:manualLayout>
              </c:layout>
              <c:numFmt formatCode="General" sourceLinked="0"/>
              <c:spPr>
                <a:noFill/>
                <a:ln>
                  <a:noFill/>
                </a:ln>
                <a:effectLst/>
              </c:spPr>
              <c:txPr>
                <a:bodyPr rot="0" spcFirstLastPara="1" vertOverflow="ellipsis" vert="horz" wrap="square" anchor="ctr" anchorCtr="1"/>
                <a:lstStyle/>
                <a:p>
                  <a:pPr>
                    <a:defRPr sz="2000" b="0" i="0" u="none" strike="noStrike" kern="1200" baseline="0">
                      <a:solidFill>
                        <a:schemeClr val="lt1">
                          <a:lumMod val="85000"/>
                        </a:schemeClr>
                      </a:solidFill>
                      <a:latin typeface="+mn-lt"/>
                      <a:ea typeface="+mn-ea"/>
                      <a:cs typeface="+mn-cs"/>
                    </a:defRPr>
                  </a:pPr>
                  <a:endParaRPr lang="en-US"/>
                </a:p>
              </c:txPr>
            </c:trendlineLbl>
          </c:trendline>
          <c:cat>
            <c:numRef>
              <c:f>Sheet1!$A$1:$A$29</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Sheet1!$B$1:$B$29</c:f>
              <c:numCache>
                <c:formatCode>General</c:formatCode>
                <c:ptCount val="29"/>
                <c:pt idx="0">
                  <c:v>1.6</c:v>
                </c:pt>
                <c:pt idx="1">
                  <c:v>1.9</c:v>
                </c:pt>
                <c:pt idx="2">
                  <c:v>2</c:v>
                </c:pt>
                <c:pt idx="3">
                  <c:v>1.9</c:v>
                </c:pt>
                <c:pt idx="4">
                  <c:v>1.7</c:v>
                </c:pt>
                <c:pt idx="5">
                  <c:v>2</c:v>
                </c:pt>
                <c:pt idx="6">
                  <c:v>2.2999999999999998</c:v>
                </c:pt>
                <c:pt idx="7">
                  <c:v>2.5</c:v>
                </c:pt>
                <c:pt idx="8">
                  <c:v>3.1</c:v>
                </c:pt>
                <c:pt idx="9">
                  <c:v>2.7</c:v>
                </c:pt>
                <c:pt idx="10">
                  <c:v>2.6</c:v>
                </c:pt>
                <c:pt idx="11">
                  <c:v>2.4</c:v>
                </c:pt>
                <c:pt idx="12">
                  <c:v>2.7</c:v>
                </c:pt>
                <c:pt idx="13">
                  <c:v>3.2</c:v>
                </c:pt>
                <c:pt idx="14">
                  <c:v>2.9</c:v>
                </c:pt>
                <c:pt idx="15">
                  <c:v>3</c:v>
                </c:pt>
                <c:pt idx="16">
                  <c:v>3.1</c:v>
                </c:pt>
                <c:pt idx="17">
                  <c:v>3.2</c:v>
                </c:pt>
                <c:pt idx="18">
                  <c:v>3.1</c:v>
                </c:pt>
                <c:pt idx="19">
                  <c:v>3.3</c:v>
                </c:pt>
                <c:pt idx="20">
                  <c:v>3.3</c:v>
                </c:pt>
                <c:pt idx="21">
                  <c:v>3.5</c:v>
                </c:pt>
                <c:pt idx="22">
                  <c:v>3.3</c:v>
                </c:pt>
                <c:pt idx="23">
                  <c:v>3.6</c:v>
                </c:pt>
                <c:pt idx="24">
                  <c:v>3.5</c:v>
                </c:pt>
                <c:pt idx="25">
                  <c:v>3.7</c:v>
                </c:pt>
                <c:pt idx="26">
                  <c:v>3.6</c:v>
                </c:pt>
                <c:pt idx="27">
                  <c:v>3.7</c:v>
                </c:pt>
                <c:pt idx="28">
                  <c:v>3.4</c:v>
                </c:pt>
              </c:numCache>
            </c:numRef>
          </c:val>
          <c:smooth val="0"/>
          <c:extLst>
            <c:ext xmlns:c16="http://schemas.microsoft.com/office/drawing/2014/chart" uri="{C3380CC4-5D6E-409C-BE32-E72D297353CC}">
              <c16:uniqueId val="{00000000-13FD-45CE-B005-B1B1B959ABE6}"/>
            </c:ext>
          </c:extLst>
        </c:ser>
        <c:dLbls>
          <c:showLegendKey val="0"/>
          <c:showVal val="0"/>
          <c:showCatName val="0"/>
          <c:showSerName val="0"/>
          <c:showPercent val="0"/>
          <c:showBubbleSize val="0"/>
        </c:dLbls>
        <c:smooth val="0"/>
        <c:axId val="1382903535"/>
        <c:axId val="1382892719"/>
      </c:lineChart>
      <c:catAx>
        <c:axId val="1382903535"/>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2000" b="0" i="0" u="none" strike="noStrike" kern="1200" baseline="0">
                <a:solidFill>
                  <a:schemeClr val="lt1">
                    <a:lumMod val="85000"/>
                  </a:schemeClr>
                </a:solidFill>
                <a:latin typeface="+mn-lt"/>
                <a:ea typeface="+mn-ea"/>
                <a:cs typeface="+mn-cs"/>
              </a:defRPr>
            </a:pPr>
            <a:endParaRPr lang="en-US"/>
          </a:p>
        </c:txPr>
        <c:crossAx val="1382892719"/>
        <c:crosses val="autoZero"/>
        <c:auto val="1"/>
        <c:lblAlgn val="ctr"/>
        <c:lblOffset val="100"/>
        <c:noMultiLvlLbl val="0"/>
      </c:catAx>
      <c:valAx>
        <c:axId val="1382892719"/>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lt1">
                    <a:lumMod val="85000"/>
                  </a:schemeClr>
                </a:solidFill>
                <a:latin typeface="+mn-lt"/>
                <a:ea typeface="+mn-ea"/>
                <a:cs typeface="+mn-cs"/>
              </a:defRPr>
            </a:pPr>
            <a:endParaRPr lang="en-US"/>
          </a:p>
        </c:txPr>
        <c:crossAx val="1382903535"/>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rgbClr val="FF0000"/>
              </a:solidFill>
              <a:round/>
            </a:ln>
            <a:effectLst/>
          </c:spPr>
          <c:marker>
            <c:symbol val="none"/>
          </c:marker>
          <c:cat>
            <c:numRef>
              <c:f>Sheet1!$D$1:$D$30</c:f>
              <c:numCache>
                <c:formatCode>General</c:formatCode>
                <c:ptCount val="30"/>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pt idx="29">
                  <c:v>2019</c:v>
                </c:pt>
              </c:numCache>
            </c:numRef>
          </c:cat>
          <c:val>
            <c:numRef>
              <c:f>Sheet1!$B$1:$B$30</c:f>
              <c:numCache>
                <c:formatCode>General</c:formatCode>
                <c:ptCount val="30"/>
                <c:pt idx="0">
                  <c:v>311264</c:v>
                </c:pt>
                <c:pt idx="1">
                  <c:v>340379</c:v>
                </c:pt>
                <c:pt idx="2">
                  <c:v>380944</c:v>
                </c:pt>
                <c:pt idx="3">
                  <c:v>408924</c:v>
                </c:pt>
                <c:pt idx="4">
                  <c:v>459698</c:v>
                </c:pt>
                <c:pt idx="5">
                  <c:v>510991</c:v>
                </c:pt>
                <c:pt idx="6">
                  <c:v>602572</c:v>
                </c:pt>
                <c:pt idx="7">
                  <c:v>672635</c:v>
                </c:pt>
                <c:pt idx="8">
                  <c:v>747195</c:v>
                </c:pt>
                <c:pt idx="9">
                  <c:v>729042</c:v>
                </c:pt>
                <c:pt idx="10">
                  <c:v>754524</c:v>
                </c:pt>
                <c:pt idx="11">
                  <c:v>812110</c:v>
                </c:pt>
                <c:pt idx="12">
                  <c:v>793006</c:v>
                </c:pt>
                <c:pt idx="13">
                  <c:v>747935</c:v>
                </c:pt>
                <c:pt idx="14">
                  <c:v>753398</c:v>
                </c:pt>
                <c:pt idx="15">
                  <c:v>797948</c:v>
                </c:pt>
                <c:pt idx="16">
                  <c:v>875471</c:v>
                </c:pt>
                <c:pt idx="17">
                  <c:v>1005517</c:v>
                </c:pt>
                <c:pt idx="18">
                  <c:v>1196737</c:v>
                </c:pt>
                <c:pt idx="19">
                  <c:v>1253697</c:v>
                </c:pt>
                <c:pt idx="20">
                  <c:v>1305011</c:v>
                </c:pt>
                <c:pt idx="21">
                  <c:v>1394437</c:v>
                </c:pt>
                <c:pt idx="22">
                  <c:v>1494232</c:v>
                </c:pt>
                <c:pt idx="23">
                  <c:v>1554411</c:v>
                </c:pt>
                <c:pt idx="24">
                  <c:v>1598985</c:v>
                </c:pt>
                <c:pt idx="25">
                  <c:v>1632312</c:v>
                </c:pt>
                <c:pt idx="26">
                  <c:v>1673724</c:v>
                </c:pt>
                <c:pt idx="27">
                  <c:v>1646457</c:v>
                </c:pt>
                <c:pt idx="28">
                  <c:v>1644393</c:v>
                </c:pt>
                <c:pt idx="29">
                  <c:v>1677360</c:v>
                </c:pt>
              </c:numCache>
            </c:numRef>
          </c:val>
          <c:smooth val="0"/>
          <c:extLst>
            <c:ext xmlns:c16="http://schemas.microsoft.com/office/drawing/2014/chart" uri="{C3380CC4-5D6E-409C-BE32-E72D297353CC}">
              <c16:uniqueId val="{00000000-487F-4200-A62A-B7AA01CA561F}"/>
            </c:ext>
          </c:extLst>
        </c:ser>
        <c:ser>
          <c:idx val="1"/>
          <c:order val="1"/>
          <c:spPr>
            <a:ln w="28575" cap="rnd">
              <a:solidFill>
                <a:srgbClr val="FFFF00"/>
              </a:solidFill>
              <a:round/>
            </a:ln>
            <a:effectLst/>
          </c:spPr>
          <c:marker>
            <c:symbol val="none"/>
          </c:marker>
          <c:cat>
            <c:numRef>
              <c:f>Sheet1!$D$1:$D$30</c:f>
              <c:numCache>
                <c:formatCode>General</c:formatCode>
                <c:ptCount val="30"/>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pt idx="29">
                  <c:v>2019</c:v>
                </c:pt>
              </c:numCache>
            </c:numRef>
          </c:cat>
          <c:val>
            <c:numRef>
              <c:f>Sheet1!$C$1:$C$30</c:f>
              <c:numCache>
                <c:formatCode>General</c:formatCode>
                <c:ptCount val="30"/>
                <c:pt idx="0">
                  <c:v>246480.52181187767</c:v>
                </c:pt>
                <c:pt idx="1">
                  <c:v>310866.71044570213</c:v>
                </c:pt>
                <c:pt idx="2">
                  <c:v>376054.00177743204</c:v>
                </c:pt>
                <c:pt idx="3">
                  <c:v>439450.46182936395</c:v>
                </c:pt>
                <c:pt idx="4">
                  <c:v>498401.87514697929</c:v>
                </c:pt>
                <c:pt idx="5">
                  <c:v>550574.25198029599</c:v>
                </c:pt>
                <c:pt idx="6">
                  <c:v>594315.67755988613</c:v>
                </c:pt>
                <c:pt idx="7">
                  <c:v>628949.72334029386</c:v>
                </c:pt>
                <c:pt idx="8">
                  <c:v>654959.48993132892</c:v>
                </c:pt>
                <c:pt idx="9">
                  <c:v>674033.33866139129</c:v>
                </c:pt>
                <c:pt idx="10">
                  <c:v>688959.20174187678</c:v>
                </c:pt>
                <c:pt idx="11">
                  <c:v>703372.27803547925</c:v>
                </c:pt>
                <c:pt idx="12">
                  <c:v>721378.88248096651</c:v>
                </c:pt>
                <c:pt idx="13">
                  <c:v>747095.13021986152</c:v>
                </c:pt>
                <c:pt idx="14">
                  <c:v>784151.09290359053</c:v>
                </c:pt>
                <c:pt idx="15">
                  <c:v>835217.55886353552</c:v>
                </c:pt>
                <c:pt idx="16">
                  <c:v>901612.63638003182</c:v>
                </c:pt>
                <c:pt idx="17">
                  <c:v>983038.93425100227</c:v>
                </c:pt>
                <c:pt idx="18">
                  <c:v>1077489.4508814784</c:v>
                </c:pt>
                <c:pt idx="19">
                  <c:v>1181342.8184151542</c:v>
                </c:pt>
                <c:pt idx="20">
                  <c:v>1289647.9824584597</c:v>
                </c:pt>
                <c:pt idx="21">
                  <c:v>1396576.9510063776</c:v>
                </c:pt>
                <c:pt idx="22">
                  <c:v>1496004.2858060615</c:v>
                </c:pt>
                <c:pt idx="23">
                  <c:v>1582155.8138757565</c:v>
                </c:pt>
                <c:pt idx="24">
                  <c:v>1650258.5422826174</c:v>
                </c:pt>
                <c:pt idx="25">
                  <c:v>1697120.3374395636</c:v>
                </c:pt>
                <c:pt idx="26">
                  <c:v>1721572.2226009709</c:v>
                </c:pt>
                <c:pt idx="27">
                  <c:v>1724717.9738273313</c:v>
                </c:pt>
                <c:pt idx="28">
                  <c:v>1709954.0490992321</c:v>
                </c:pt>
                <c:pt idx="29">
                  <c:v>1682746.01927393</c:v>
                </c:pt>
              </c:numCache>
            </c:numRef>
          </c:val>
          <c:smooth val="0"/>
          <c:extLst>
            <c:ext xmlns:c16="http://schemas.microsoft.com/office/drawing/2014/chart" uri="{C3380CC4-5D6E-409C-BE32-E72D297353CC}">
              <c16:uniqueId val="{00000001-487F-4200-A62A-B7AA01CA561F}"/>
            </c:ext>
          </c:extLst>
        </c:ser>
        <c:dLbls>
          <c:showLegendKey val="0"/>
          <c:showVal val="0"/>
          <c:showCatName val="0"/>
          <c:showSerName val="0"/>
          <c:showPercent val="0"/>
          <c:showBubbleSize val="0"/>
        </c:dLbls>
        <c:smooth val="0"/>
        <c:axId val="396631440"/>
        <c:axId val="396632272"/>
      </c:lineChart>
      <c:catAx>
        <c:axId val="396631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396632272"/>
        <c:crosses val="autoZero"/>
        <c:auto val="1"/>
        <c:lblAlgn val="ctr"/>
        <c:lblOffset val="100"/>
        <c:noMultiLvlLbl val="0"/>
      </c:catAx>
      <c:valAx>
        <c:axId val="396632272"/>
        <c:scaling>
          <c:orientation val="minMax"/>
        </c:scaling>
        <c:delete val="0"/>
        <c:axPos val="l"/>
        <c:majorGridlines>
          <c:spPr>
            <a:ln w="9525" cap="flat" cmpd="sng" algn="ctr">
              <a:solidFill>
                <a:schemeClr val="bg1">
                  <a:lumMod val="75000"/>
                  <a:lumOff val="2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39663144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0" i="0" u="none" strike="noStrike" kern="1200" spc="0" baseline="0">
                <a:solidFill>
                  <a:schemeClr val="tx1">
                    <a:lumMod val="65000"/>
                    <a:lumOff val="35000"/>
                  </a:schemeClr>
                </a:solidFill>
                <a:latin typeface="+mn-lt"/>
                <a:ea typeface="+mn-ea"/>
                <a:cs typeface="+mn-cs"/>
              </a:defRPr>
            </a:pPr>
            <a:r>
              <a:rPr lang="en-SG" sz="1500" baseline="0"/>
              <a:t>Total Number of Residents </a:t>
            </a:r>
          </a:p>
        </c:rich>
      </c:tx>
      <c:layout/>
      <c:overlay val="0"/>
      <c:spPr>
        <a:noFill/>
        <a:ln>
          <a:noFill/>
        </a:ln>
        <a:effectLst/>
      </c:spPr>
      <c:txPr>
        <a:bodyPr rot="0" spcFirstLastPara="1" vertOverflow="ellipsis" vert="horz" wrap="square" anchor="ctr" anchorCtr="1"/>
        <a:lstStyle/>
        <a:p>
          <a:pPr>
            <a:defRPr sz="15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Residents!$B$1</c:f>
              <c:strCache>
                <c:ptCount val="1"/>
                <c:pt idx="0">
                  <c:v>Model</c:v>
                </c:pt>
              </c:strCache>
            </c:strRef>
          </c:tx>
          <c:spPr>
            <a:ln w="28575" cap="rnd">
              <a:solidFill>
                <a:srgbClr val="FFFF00"/>
              </a:solidFill>
              <a:round/>
            </a:ln>
            <a:effectLst/>
          </c:spPr>
          <c:marker>
            <c:symbol val="none"/>
          </c:marker>
          <c:cat>
            <c:numRef>
              <c:f>Residents!$A$2:$A$30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Residents!$B$2:$B$30</c:f>
              <c:numCache>
                <c:formatCode>General</c:formatCode>
                <c:ptCount val="29"/>
                <c:pt idx="0">
                  <c:v>2735862</c:v>
                </c:pt>
                <c:pt idx="1">
                  <c:v>2790878</c:v>
                </c:pt>
                <c:pt idx="2">
                  <c:v>2850418</c:v>
                </c:pt>
                <c:pt idx="3">
                  <c:v>2911994</c:v>
                </c:pt>
                <c:pt idx="4">
                  <c:v>2974516</c:v>
                </c:pt>
                <c:pt idx="5">
                  <c:v>3037557</c:v>
                </c:pt>
                <c:pt idx="6">
                  <c:v>3100561</c:v>
                </c:pt>
                <c:pt idx="7">
                  <c:v>3162094</c:v>
                </c:pt>
                <c:pt idx="8">
                  <c:v>3221535</c:v>
                </c:pt>
                <c:pt idx="9">
                  <c:v>3277896</c:v>
                </c:pt>
                <c:pt idx="10">
                  <c:v>3331641</c:v>
                </c:pt>
                <c:pt idx="11">
                  <c:v>3381776</c:v>
                </c:pt>
                <c:pt idx="12">
                  <c:v>3429346</c:v>
                </c:pt>
                <c:pt idx="13">
                  <c:v>3473730</c:v>
                </c:pt>
                <c:pt idx="14">
                  <c:v>3515576</c:v>
                </c:pt>
                <c:pt idx="15">
                  <c:v>3555508</c:v>
                </c:pt>
                <c:pt idx="16">
                  <c:v>3593720</c:v>
                </c:pt>
                <c:pt idx="17">
                  <c:v>3630407</c:v>
                </c:pt>
                <c:pt idx="18">
                  <c:v>3666281</c:v>
                </c:pt>
                <c:pt idx="19">
                  <c:v>3701699</c:v>
                </c:pt>
                <c:pt idx="20">
                  <c:v>3736221</c:v>
                </c:pt>
                <c:pt idx="21">
                  <c:v>3770460</c:v>
                </c:pt>
                <c:pt idx="22">
                  <c:v>3803841</c:v>
                </c:pt>
                <c:pt idx="23">
                  <c:v>3836173</c:v>
                </c:pt>
                <c:pt idx="24">
                  <c:v>3867825</c:v>
                </c:pt>
                <c:pt idx="25">
                  <c:v>3897669</c:v>
                </c:pt>
                <c:pt idx="26">
                  <c:v>3926324</c:v>
                </c:pt>
                <c:pt idx="27">
                  <c:v>3953137</c:v>
                </c:pt>
                <c:pt idx="28">
                  <c:v>3977982</c:v>
                </c:pt>
              </c:numCache>
            </c:numRef>
          </c:val>
          <c:smooth val="1"/>
          <c:extLst>
            <c:ext xmlns:c16="http://schemas.microsoft.com/office/drawing/2014/chart" uri="{C3380CC4-5D6E-409C-BE32-E72D297353CC}">
              <c16:uniqueId val="{00000000-E93F-4629-9858-BE5BBA12AAC9}"/>
            </c:ext>
          </c:extLst>
        </c:ser>
        <c:ser>
          <c:idx val="1"/>
          <c:order val="1"/>
          <c:tx>
            <c:strRef>
              <c:f>Residents!$C$1</c:f>
              <c:strCache>
                <c:ptCount val="1"/>
                <c:pt idx="0">
                  <c:v>Real</c:v>
                </c:pt>
              </c:strCache>
            </c:strRef>
          </c:tx>
          <c:spPr>
            <a:ln w="28575" cap="rnd">
              <a:solidFill>
                <a:srgbClr val="FF0000"/>
              </a:solidFill>
              <a:prstDash val="dash"/>
              <a:round/>
            </a:ln>
            <a:effectLst/>
          </c:spPr>
          <c:marker>
            <c:symbol val="none"/>
          </c:marker>
          <c:cat>
            <c:numRef>
              <c:f>Residents!$A$2:$A$30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Residents!$C$2:$C$30</c:f>
              <c:numCache>
                <c:formatCode>General</c:formatCode>
                <c:ptCount val="29"/>
                <c:pt idx="0">
                  <c:v>2735868</c:v>
                </c:pt>
                <c:pt idx="1">
                  <c:v>2794704</c:v>
                </c:pt>
                <c:pt idx="2">
                  <c:v>2849753</c:v>
                </c:pt>
                <c:pt idx="3">
                  <c:v>2904546</c:v>
                </c:pt>
                <c:pt idx="4">
                  <c:v>2959351</c:v>
                </c:pt>
                <c:pt idx="5">
                  <c:v>3013518</c:v>
                </c:pt>
                <c:pt idx="6">
                  <c:v>3068130</c:v>
                </c:pt>
                <c:pt idx="7">
                  <c:v>3123403</c:v>
                </c:pt>
                <c:pt idx="8">
                  <c:v>3180019</c:v>
                </c:pt>
                <c:pt idx="9">
                  <c:v>3229681</c:v>
                </c:pt>
                <c:pt idx="10">
                  <c:v>3273363</c:v>
                </c:pt>
                <c:pt idx="11">
                  <c:v>3325902</c:v>
                </c:pt>
                <c:pt idx="12">
                  <c:v>3382944</c:v>
                </c:pt>
                <c:pt idx="13">
                  <c:v>3366891</c:v>
                </c:pt>
                <c:pt idx="14">
                  <c:v>3413266</c:v>
                </c:pt>
                <c:pt idx="15">
                  <c:v>3467814</c:v>
                </c:pt>
                <c:pt idx="16">
                  <c:v>3525894</c:v>
                </c:pt>
                <c:pt idx="17">
                  <c:v>3583082</c:v>
                </c:pt>
                <c:pt idx="18">
                  <c:v>3642659</c:v>
                </c:pt>
                <c:pt idx="19">
                  <c:v>3733876</c:v>
                </c:pt>
                <c:pt idx="20">
                  <c:v>3771721</c:v>
                </c:pt>
                <c:pt idx="21">
                  <c:v>3789251</c:v>
                </c:pt>
                <c:pt idx="22">
                  <c:v>3818205</c:v>
                </c:pt>
                <c:pt idx="23">
                  <c:v>3844751</c:v>
                </c:pt>
                <c:pt idx="24">
                  <c:v>3870739</c:v>
                </c:pt>
                <c:pt idx="25">
                  <c:v>3902690</c:v>
                </c:pt>
                <c:pt idx="26">
                  <c:v>3933559</c:v>
                </c:pt>
                <c:pt idx="27">
                  <c:v>3965796</c:v>
                </c:pt>
                <c:pt idx="28">
                  <c:v>3994283</c:v>
                </c:pt>
              </c:numCache>
            </c:numRef>
          </c:val>
          <c:smooth val="0"/>
          <c:extLst>
            <c:ext xmlns:c16="http://schemas.microsoft.com/office/drawing/2014/chart" uri="{C3380CC4-5D6E-409C-BE32-E72D297353CC}">
              <c16:uniqueId val="{00000001-E93F-4629-9858-BE5BBA12AAC9}"/>
            </c:ext>
          </c:extLst>
        </c:ser>
        <c:dLbls>
          <c:showLegendKey val="0"/>
          <c:showVal val="0"/>
          <c:showCatName val="0"/>
          <c:showSerName val="0"/>
          <c:showPercent val="0"/>
          <c:showBubbleSize val="0"/>
        </c:dLbls>
        <c:smooth val="0"/>
        <c:axId val="138994944"/>
        <c:axId val="138996192"/>
      </c:lineChart>
      <c:catAx>
        <c:axId val="138994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38996192"/>
        <c:crosses val="autoZero"/>
        <c:auto val="1"/>
        <c:lblAlgn val="ctr"/>
        <c:lblOffset val="100"/>
        <c:noMultiLvlLbl val="0"/>
      </c:catAx>
      <c:valAx>
        <c:axId val="138996192"/>
        <c:scaling>
          <c:orientation val="minMax"/>
        </c:scaling>
        <c:delete val="0"/>
        <c:axPos val="l"/>
        <c:majorGridlines>
          <c:spPr>
            <a:ln w="9525" cap="flat" cmpd="sng" algn="ctr">
              <a:solidFill>
                <a:schemeClr val="bg1">
                  <a:lumMod val="75000"/>
                  <a:lumOff val="2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3899494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0" i="0" u="none" strike="noStrike" kern="1200" spc="0" baseline="0">
                <a:solidFill>
                  <a:schemeClr val="tx1">
                    <a:lumMod val="65000"/>
                    <a:lumOff val="35000"/>
                  </a:schemeClr>
                </a:solidFill>
                <a:latin typeface="+mn-lt"/>
                <a:ea typeface="+mn-ea"/>
                <a:cs typeface="+mn-cs"/>
              </a:defRPr>
            </a:pPr>
            <a:r>
              <a:rPr lang="en-SG" sz="1500" baseline="0"/>
              <a:t>Total number of non-residents</a:t>
            </a:r>
          </a:p>
        </c:rich>
      </c:tx>
      <c:layout/>
      <c:overlay val="0"/>
      <c:spPr>
        <a:noFill/>
        <a:ln>
          <a:noFill/>
        </a:ln>
        <a:effectLst/>
      </c:spPr>
      <c:txPr>
        <a:bodyPr rot="0" spcFirstLastPara="1" vertOverflow="ellipsis" vert="horz" wrap="square" anchor="ctr" anchorCtr="1"/>
        <a:lstStyle/>
        <a:p>
          <a:pPr>
            <a:defRPr sz="15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'Non-residents'!$B$1</c:f>
              <c:strCache>
                <c:ptCount val="1"/>
                <c:pt idx="0">
                  <c:v>Model</c:v>
                </c:pt>
              </c:strCache>
            </c:strRef>
          </c:tx>
          <c:spPr>
            <a:ln w="28575" cap="rnd">
              <a:solidFill>
                <a:srgbClr val="FFFF00"/>
              </a:solidFill>
              <a:round/>
            </a:ln>
            <a:effectLst/>
          </c:spPr>
          <c:marker>
            <c:symbol val="none"/>
          </c:marker>
          <c:cat>
            <c:numRef>
              <c:f>'Non-residents'!$A$2:$A$31</c:f>
              <c:numCache>
                <c:formatCode>General</c:formatCode>
                <c:ptCount val="30"/>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pt idx="29">
                  <c:v>2019</c:v>
                </c:pt>
              </c:numCache>
            </c:numRef>
          </c:cat>
          <c:val>
            <c:numRef>
              <c:f>'Non-residents'!$B$2:$B$31</c:f>
              <c:numCache>
                <c:formatCode>General</c:formatCode>
                <c:ptCount val="30"/>
                <c:pt idx="0">
                  <c:v>246389</c:v>
                </c:pt>
                <c:pt idx="1">
                  <c:v>310676</c:v>
                </c:pt>
                <c:pt idx="2">
                  <c:v>375760</c:v>
                </c:pt>
                <c:pt idx="3">
                  <c:v>439052</c:v>
                </c:pt>
                <c:pt idx="4">
                  <c:v>497903</c:v>
                </c:pt>
                <c:pt idx="5">
                  <c:v>549981</c:v>
                </c:pt>
                <c:pt idx="6">
                  <c:v>593639</c:v>
                </c:pt>
                <c:pt idx="7">
                  <c:v>628201</c:v>
                </c:pt>
                <c:pt idx="8">
                  <c:v>654152</c:v>
                </c:pt>
                <c:pt idx="9">
                  <c:v>673177</c:v>
                </c:pt>
                <c:pt idx="10">
                  <c:v>688062</c:v>
                </c:pt>
                <c:pt idx="11">
                  <c:v>702437</c:v>
                </c:pt>
                <c:pt idx="12">
                  <c:v>720402</c:v>
                </c:pt>
                <c:pt idx="13">
                  <c:v>746068</c:v>
                </c:pt>
                <c:pt idx="14">
                  <c:v>783057</c:v>
                </c:pt>
                <c:pt idx="15">
                  <c:v>834038</c:v>
                </c:pt>
                <c:pt idx="16">
                  <c:v>900325</c:v>
                </c:pt>
                <c:pt idx="17">
                  <c:v>981622</c:v>
                </c:pt>
                <c:pt idx="18">
                  <c:v>1075922</c:v>
                </c:pt>
                <c:pt idx="19">
                  <c:v>1179610</c:v>
                </c:pt>
                <c:pt idx="20">
                  <c:v>1287743</c:v>
                </c:pt>
                <c:pt idx="21">
                  <c:v>1394500</c:v>
                </c:pt>
                <c:pt idx="22">
                  <c:v>1493765</c:v>
                </c:pt>
                <c:pt idx="23">
                  <c:v>1579774</c:v>
                </c:pt>
                <c:pt idx="24">
                  <c:v>1647761</c:v>
                </c:pt>
                <c:pt idx="25">
                  <c:v>1694539</c:v>
                </c:pt>
                <c:pt idx="26">
                  <c:v>1718942</c:v>
                </c:pt>
                <c:pt idx="27">
                  <c:v>1722072</c:v>
                </c:pt>
                <c:pt idx="28">
                  <c:v>1707320</c:v>
                </c:pt>
                <c:pt idx="29">
                  <c:v>1680144</c:v>
                </c:pt>
              </c:numCache>
            </c:numRef>
          </c:val>
          <c:smooth val="0"/>
          <c:extLst>
            <c:ext xmlns:c16="http://schemas.microsoft.com/office/drawing/2014/chart" uri="{C3380CC4-5D6E-409C-BE32-E72D297353CC}">
              <c16:uniqueId val="{00000000-A150-4A64-AFD3-FE9A5DEDCC32}"/>
            </c:ext>
          </c:extLst>
        </c:ser>
        <c:ser>
          <c:idx val="1"/>
          <c:order val="1"/>
          <c:tx>
            <c:strRef>
              <c:f>'Non-residents'!$C$1</c:f>
              <c:strCache>
                <c:ptCount val="1"/>
                <c:pt idx="0">
                  <c:v>Real</c:v>
                </c:pt>
              </c:strCache>
            </c:strRef>
          </c:tx>
          <c:spPr>
            <a:ln w="28575" cap="rnd">
              <a:solidFill>
                <a:srgbClr val="FF0000"/>
              </a:solidFill>
              <a:round/>
            </a:ln>
            <a:effectLst/>
          </c:spPr>
          <c:marker>
            <c:symbol val="none"/>
          </c:marker>
          <c:cat>
            <c:numRef>
              <c:f>'Non-residents'!$A$2:$A$31</c:f>
              <c:numCache>
                <c:formatCode>General</c:formatCode>
                <c:ptCount val="30"/>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pt idx="29">
                  <c:v>2019</c:v>
                </c:pt>
              </c:numCache>
            </c:numRef>
          </c:cat>
          <c:val>
            <c:numRef>
              <c:f>'Non-residents'!$C$2:$C$31</c:f>
              <c:numCache>
                <c:formatCode>General</c:formatCode>
                <c:ptCount val="30"/>
                <c:pt idx="0">
                  <c:v>311264</c:v>
                </c:pt>
                <c:pt idx="1">
                  <c:v>340379</c:v>
                </c:pt>
                <c:pt idx="2">
                  <c:v>380944</c:v>
                </c:pt>
                <c:pt idx="3">
                  <c:v>408924</c:v>
                </c:pt>
                <c:pt idx="4">
                  <c:v>459698</c:v>
                </c:pt>
                <c:pt idx="5">
                  <c:v>510991</c:v>
                </c:pt>
                <c:pt idx="6">
                  <c:v>602572</c:v>
                </c:pt>
                <c:pt idx="7">
                  <c:v>672635</c:v>
                </c:pt>
                <c:pt idx="8">
                  <c:v>747195</c:v>
                </c:pt>
                <c:pt idx="9">
                  <c:v>729042</c:v>
                </c:pt>
                <c:pt idx="10">
                  <c:v>754524</c:v>
                </c:pt>
                <c:pt idx="11">
                  <c:v>812110</c:v>
                </c:pt>
                <c:pt idx="12">
                  <c:v>793006</c:v>
                </c:pt>
                <c:pt idx="13">
                  <c:v>747935</c:v>
                </c:pt>
                <c:pt idx="14">
                  <c:v>753398</c:v>
                </c:pt>
                <c:pt idx="15">
                  <c:v>797948</c:v>
                </c:pt>
                <c:pt idx="16">
                  <c:v>875471</c:v>
                </c:pt>
                <c:pt idx="17">
                  <c:v>1005517</c:v>
                </c:pt>
                <c:pt idx="18">
                  <c:v>1196737</c:v>
                </c:pt>
                <c:pt idx="19">
                  <c:v>1253697</c:v>
                </c:pt>
                <c:pt idx="20">
                  <c:v>1305011</c:v>
                </c:pt>
                <c:pt idx="21">
                  <c:v>1394437</c:v>
                </c:pt>
                <c:pt idx="22">
                  <c:v>1494232</c:v>
                </c:pt>
                <c:pt idx="23">
                  <c:v>1554411</c:v>
                </c:pt>
                <c:pt idx="24">
                  <c:v>1598985</c:v>
                </c:pt>
                <c:pt idx="25">
                  <c:v>1632312</c:v>
                </c:pt>
                <c:pt idx="26">
                  <c:v>1673724</c:v>
                </c:pt>
                <c:pt idx="27">
                  <c:v>1646457</c:v>
                </c:pt>
                <c:pt idx="28">
                  <c:v>1644393</c:v>
                </c:pt>
                <c:pt idx="29">
                  <c:v>1677360</c:v>
                </c:pt>
              </c:numCache>
            </c:numRef>
          </c:val>
          <c:smooth val="0"/>
          <c:extLst>
            <c:ext xmlns:c16="http://schemas.microsoft.com/office/drawing/2014/chart" uri="{C3380CC4-5D6E-409C-BE32-E72D297353CC}">
              <c16:uniqueId val="{00000001-A150-4A64-AFD3-FE9A5DEDCC32}"/>
            </c:ext>
          </c:extLst>
        </c:ser>
        <c:dLbls>
          <c:showLegendKey val="0"/>
          <c:showVal val="0"/>
          <c:showCatName val="0"/>
          <c:showSerName val="0"/>
          <c:showPercent val="0"/>
          <c:showBubbleSize val="0"/>
        </c:dLbls>
        <c:smooth val="0"/>
        <c:axId val="431296080"/>
        <c:axId val="431297328"/>
      </c:lineChart>
      <c:catAx>
        <c:axId val="431296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1500" b="0" i="0" u="none" strike="noStrike" kern="1200" baseline="0">
                <a:ln>
                  <a:noFill/>
                </a:ln>
                <a:solidFill>
                  <a:schemeClr val="tx1">
                    <a:lumMod val="65000"/>
                    <a:lumOff val="35000"/>
                  </a:schemeClr>
                </a:solidFill>
                <a:latin typeface="+mn-lt"/>
                <a:ea typeface="+mn-ea"/>
                <a:cs typeface="+mn-cs"/>
              </a:defRPr>
            </a:pPr>
            <a:endParaRPr lang="en-US"/>
          </a:p>
        </c:txPr>
        <c:crossAx val="431297328"/>
        <c:crosses val="autoZero"/>
        <c:auto val="1"/>
        <c:lblAlgn val="ctr"/>
        <c:lblOffset val="100"/>
        <c:noMultiLvlLbl val="0"/>
      </c:catAx>
      <c:valAx>
        <c:axId val="431297328"/>
        <c:scaling>
          <c:orientation val="minMax"/>
        </c:scaling>
        <c:delete val="0"/>
        <c:axPos val="l"/>
        <c:majorGridlines>
          <c:spPr>
            <a:ln w="9525" cap="flat" cmpd="sng" algn="ctr">
              <a:solidFill>
                <a:schemeClr val="bg1">
                  <a:lumMod val="75000"/>
                  <a:lumOff val="2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43129608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0" i="0" u="none" strike="noStrike" kern="1200" spc="0" baseline="0">
                <a:solidFill>
                  <a:schemeClr val="tx1">
                    <a:lumMod val="65000"/>
                    <a:lumOff val="35000"/>
                  </a:schemeClr>
                </a:solidFill>
                <a:latin typeface="+mn-lt"/>
                <a:ea typeface="+mn-ea"/>
                <a:cs typeface="+mn-cs"/>
              </a:defRPr>
            </a:pPr>
            <a:r>
              <a:rPr lang="en-US" sz="1500" baseline="0" dirty="0" smtClean="0"/>
              <a:t>Total number of people </a:t>
            </a:r>
            <a:endParaRPr lang="en-SG" sz="1500" baseline="0" dirty="0"/>
          </a:p>
        </c:rich>
      </c:tx>
      <c:layout/>
      <c:overlay val="0"/>
      <c:spPr>
        <a:noFill/>
        <a:ln>
          <a:noFill/>
        </a:ln>
        <a:effectLst/>
      </c:spPr>
      <c:txPr>
        <a:bodyPr rot="0" spcFirstLastPara="1" vertOverflow="ellipsis" vert="horz" wrap="square" anchor="ctr" anchorCtr="1"/>
        <a:lstStyle/>
        <a:p>
          <a:pPr>
            <a:defRPr sz="15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Total!$B$1</c:f>
              <c:strCache>
                <c:ptCount val="1"/>
                <c:pt idx="0">
                  <c:v>Model</c:v>
                </c:pt>
              </c:strCache>
            </c:strRef>
          </c:tx>
          <c:spPr>
            <a:ln w="28575" cap="rnd">
              <a:solidFill>
                <a:srgbClr val="FFFF00"/>
              </a:solidFill>
              <a:round/>
            </a:ln>
            <a:effectLst/>
          </c:spPr>
          <c:marker>
            <c:symbol val="none"/>
          </c:marker>
          <c:cat>
            <c:numRef>
              <c:f>Total!$A$2:$A$30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Total!$B$2:$B$30</c:f>
              <c:numCache>
                <c:formatCode>General</c:formatCode>
                <c:ptCount val="29"/>
                <c:pt idx="0">
                  <c:v>2982251</c:v>
                </c:pt>
                <c:pt idx="1">
                  <c:v>3101554</c:v>
                </c:pt>
                <c:pt idx="2">
                  <c:v>3226178</c:v>
                </c:pt>
                <c:pt idx="3">
                  <c:v>3351046</c:v>
                </c:pt>
                <c:pt idx="4">
                  <c:v>3472419</c:v>
                </c:pt>
                <c:pt idx="5">
                  <c:v>3587538</c:v>
                </c:pt>
                <c:pt idx="6">
                  <c:v>3694200</c:v>
                </c:pt>
                <c:pt idx="7">
                  <c:v>3790295</c:v>
                </c:pt>
                <c:pt idx="8">
                  <c:v>3875687</c:v>
                </c:pt>
                <c:pt idx="9">
                  <c:v>3951073</c:v>
                </c:pt>
                <c:pt idx="10">
                  <c:v>4019703</c:v>
                </c:pt>
                <c:pt idx="11">
                  <c:v>4084213</c:v>
                </c:pt>
                <c:pt idx="12">
                  <c:v>4149748</c:v>
                </c:pt>
                <c:pt idx="13">
                  <c:v>4219798</c:v>
                </c:pt>
                <c:pt idx="14">
                  <c:v>4298633</c:v>
                </c:pt>
                <c:pt idx="15">
                  <c:v>4389546</c:v>
                </c:pt>
                <c:pt idx="16">
                  <c:v>4494045</c:v>
                </c:pt>
                <c:pt idx="17">
                  <c:v>4612029</c:v>
                </c:pt>
                <c:pt idx="18">
                  <c:v>4742203</c:v>
                </c:pt>
                <c:pt idx="19">
                  <c:v>4881309</c:v>
                </c:pt>
                <c:pt idx="20">
                  <c:v>5023964</c:v>
                </c:pt>
                <c:pt idx="21">
                  <c:v>5164960</c:v>
                </c:pt>
                <c:pt idx="22">
                  <c:v>5297606</c:v>
                </c:pt>
                <c:pt idx="23">
                  <c:v>5415947</c:v>
                </c:pt>
                <c:pt idx="24">
                  <c:v>5515586</c:v>
                </c:pt>
                <c:pt idx="25">
                  <c:v>5592208</c:v>
                </c:pt>
                <c:pt idx="26">
                  <c:v>5645266</c:v>
                </c:pt>
                <c:pt idx="27">
                  <c:v>5675209</c:v>
                </c:pt>
                <c:pt idx="28">
                  <c:v>5685302</c:v>
                </c:pt>
              </c:numCache>
            </c:numRef>
          </c:val>
          <c:smooth val="0"/>
          <c:extLst>
            <c:ext xmlns:c16="http://schemas.microsoft.com/office/drawing/2014/chart" uri="{C3380CC4-5D6E-409C-BE32-E72D297353CC}">
              <c16:uniqueId val="{00000000-C397-429E-B8E3-3FD9B4D8F107}"/>
            </c:ext>
          </c:extLst>
        </c:ser>
        <c:ser>
          <c:idx val="1"/>
          <c:order val="1"/>
          <c:tx>
            <c:strRef>
              <c:f>Total!$C$1</c:f>
              <c:strCache>
                <c:ptCount val="1"/>
                <c:pt idx="0">
                  <c:v>Real</c:v>
                </c:pt>
              </c:strCache>
            </c:strRef>
          </c:tx>
          <c:spPr>
            <a:ln w="28575" cap="rnd">
              <a:solidFill>
                <a:srgbClr val="FF0000"/>
              </a:solidFill>
              <a:prstDash val="dash"/>
              <a:round/>
            </a:ln>
            <a:effectLst/>
          </c:spPr>
          <c:marker>
            <c:symbol val="none"/>
          </c:marker>
          <c:cat>
            <c:numRef>
              <c:f>Total!$A$2:$A$30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Total!$C$2:$C$30</c:f>
              <c:numCache>
                <c:formatCode>General</c:formatCode>
                <c:ptCount val="29"/>
                <c:pt idx="0">
                  <c:v>3047132</c:v>
                </c:pt>
                <c:pt idx="1">
                  <c:v>3135083</c:v>
                </c:pt>
                <c:pt idx="2">
                  <c:v>3230697</c:v>
                </c:pt>
                <c:pt idx="3">
                  <c:v>3313470</c:v>
                </c:pt>
                <c:pt idx="4">
                  <c:v>3419049</c:v>
                </c:pt>
                <c:pt idx="5">
                  <c:v>3524509</c:v>
                </c:pt>
                <c:pt idx="6">
                  <c:v>3670702</c:v>
                </c:pt>
                <c:pt idx="7">
                  <c:v>3796038</c:v>
                </c:pt>
                <c:pt idx="8">
                  <c:v>3927214</c:v>
                </c:pt>
                <c:pt idx="9">
                  <c:v>3958723</c:v>
                </c:pt>
                <c:pt idx="10">
                  <c:v>4027887</c:v>
                </c:pt>
                <c:pt idx="11">
                  <c:v>4138012</c:v>
                </c:pt>
                <c:pt idx="12">
                  <c:v>4175950</c:v>
                </c:pt>
                <c:pt idx="13">
                  <c:v>4114826</c:v>
                </c:pt>
                <c:pt idx="14">
                  <c:v>4166664</c:v>
                </c:pt>
                <c:pt idx="15">
                  <c:v>4265762</c:v>
                </c:pt>
                <c:pt idx="16">
                  <c:v>4401365</c:v>
                </c:pt>
                <c:pt idx="17">
                  <c:v>4588599</c:v>
                </c:pt>
                <c:pt idx="18">
                  <c:v>4839396</c:v>
                </c:pt>
                <c:pt idx="19">
                  <c:v>4987573</c:v>
                </c:pt>
                <c:pt idx="20">
                  <c:v>5076732</c:v>
                </c:pt>
                <c:pt idx="21">
                  <c:v>5183688</c:v>
                </c:pt>
                <c:pt idx="22">
                  <c:v>5312437</c:v>
                </c:pt>
                <c:pt idx="23">
                  <c:v>5399162</c:v>
                </c:pt>
                <c:pt idx="24">
                  <c:v>5469724</c:v>
                </c:pt>
                <c:pt idx="25">
                  <c:v>5535002</c:v>
                </c:pt>
                <c:pt idx="26">
                  <c:v>5607283</c:v>
                </c:pt>
                <c:pt idx="27">
                  <c:v>5612253</c:v>
                </c:pt>
                <c:pt idx="28">
                  <c:v>5638676</c:v>
                </c:pt>
              </c:numCache>
            </c:numRef>
          </c:val>
          <c:smooth val="0"/>
          <c:extLst>
            <c:ext xmlns:c16="http://schemas.microsoft.com/office/drawing/2014/chart" uri="{C3380CC4-5D6E-409C-BE32-E72D297353CC}">
              <c16:uniqueId val="{00000001-C397-429E-B8E3-3FD9B4D8F107}"/>
            </c:ext>
          </c:extLst>
        </c:ser>
        <c:dLbls>
          <c:showLegendKey val="0"/>
          <c:showVal val="0"/>
          <c:showCatName val="0"/>
          <c:showSerName val="0"/>
          <c:showPercent val="0"/>
          <c:showBubbleSize val="0"/>
        </c:dLbls>
        <c:smooth val="0"/>
        <c:axId val="1839651872"/>
        <c:axId val="1839653120"/>
      </c:lineChart>
      <c:catAx>
        <c:axId val="18396518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839653120"/>
        <c:crosses val="autoZero"/>
        <c:auto val="1"/>
        <c:lblAlgn val="ctr"/>
        <c:lblOffset val="100"/>
        <c:noMultiLvlLbl val="0"/>
      </c:catAx>
      <c:valAx>
        <c:axId val="1839653120"/>
        <c:scaling>
          <c:orientation val="minMax"/>
        </c:scaling>
        <c:delete val="0"/>
        <c:axPos val="l"/>
        <c:majorGridlines>
          <c:spPr>
            <a:ln w="9525" cap="flat" cmpd="sng" algn="ctr">
              <a:solidFill>
                <a:schemeClr val="bg1">
                  <a:lumMod val="75000"/>
                  <a:lumOff val="2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839651872"/>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0" i="0" u="none" strike="noStrike" kern="1200" spc="0" baseline="0">
                <a:solidFill>
                  <a:schemeClr val="tx1">
                    <a:lumMod val="65000"/>
                    <a:lumOff val="35000"/>
                  </a:schemeClr>
                </a:solidFill>
                <a:latin typeface="+mn-lt"/>
                <a:ea typeface="+mn-ea"/>
                <a:cs typeface="+mn-cs"/>
              </a:defRPr>
            </a:pPr>
            <a:r>
              <a:rPr lang="en-US" sz="1500" baseline="0" dirty="0" smtClean="0"/>
              <a:t>Total male residents</a:t>
            </a:r>
            <a:r>
              <a:rPr lang="ru-RU" sz="1500" baseline="0" dirty="0" smtClean="0"/>
              <a:t> </a:t>
            </a:r>
            <a:endParaRPr lang="en-SG" sz="1500" baseline="0" dirty="0"/>
          </a:p>
        </c:rich>
      </c:tx>
      <c:layout/>
      <c:overlay val="0"/>
      <c:spPr>
        <a:noFill/>
        <a:ln>
          <a:noFill/>
        </a:ln>
        <a:effectLst/>
      </c:spPr>
      <c:txPr>
        <a:bodyPr rot="0" spcFirstLastPara="1" vertOverflow="ellipsis" vert="horz" wrap="square" anchor="ctr" anchorCtr="1"/>
        <a:lstStyle/>
        <a:p>
          <a:pPr>
            <a:defRPr sz="15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Males!$B$1</c:f>
              <c:strCache>
                <c:ptCount val="1"/>
                <c:pt idx="0">
                  <c:v>Model</c:v>
                </c:pt>
              </c:strCache>
            </c:strRef>
          </c:tx>
          <c:spPr>
            <a:ln w="28575" cap="rnd">
              <a:solidFill>
                <a:srgbClr val="FFFF00"/>
              </a:solidFill>
              <a:round/>
            </a:ln>
            <a:effectLst/>
          </c:spPr>
          <c:marker>
            <c:symbol val="none"/>
          </c:marker>
          <c:cat>
            <c:numRef>
              <c:f>Males!$A$2:$A$30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Males!$B$2:$B$30</c:f>
              <c:numCache>
                <c:formatCode>General</c:formatCode>
                <c:ptCount val="29"/>
                <c:pt idx="0">
                  <c:v>1386293</c:v>
                </c:pt>
                <c:pt idx="1">
                  <c:v>1411383</c:v>
                </c:pt>
                <c:pt idx="2">
                  <c:v>1438755</c:v>
                </c:pt>
                <c:pt idx="3">
                  <c:v>1467253</c:v>
                </c:pt>
                <c:pt idx="4">
                  <c:v>1496433</c:v>
                </c:pt>
                <c:pt idx="5">
                  <c:v>1525786</c:v>
                </c:pt>
                <c:pt idx="6">
                  <c:v>1554773</c:v>
                </c:pt>
                <c:pt idx="7">
                  <c:v>1582953</c:v>
                </c:pt>
                <c:pt idx="8">
                  <c:v>1610370</c:v>
                </c:pt>
                <c:pt idx="9">
                  <c:v>1636453</c:v>
                </c:pt>
                <c:pt idx="10">
                  <c:v>1661260</c:v>
                </c:pt>
                <c:pt idx="11">
                  <c:v>1684293</c:v>
                </c:pt>
                <c:pt idx="12">
                  <c:v>1706127</c:v>
                </c:pt>
                <c:pt idx="13">
                  <c:v>1726468</c:v>
                </c:pt>
                <c:pt idx="14">
                  <c:v>1745797</c:v>
                </c:pt>
                <c:pt idx="15">
                  <c:v>1763649</c:v>
                </c:pt>
                <c:pt idx="16">
                  <c:v>1780839</c:v>
                </c:pt>
                <c:pt idx="17">
                  <c:v>1797294</c:v>
                </c:pt>
                <c:pt idx="18">
                  <c:v>1813263</c:v>
                </c:pt>
                <c:pt idx="19">
                  <c:v>1829062</c:v>
                </c:pt>
                <c:pt idx="20">
                  <c:v>1844223</c:v>
                </c:pt>
                <c:pt idx="21">
                  <c:v>1859111</c:v>
                </c:pt>
                <c:pt idx="22">
                  <c:v>1873429</c:v>
                </c:pt>
                <c:pt idx="23">
                  <c:v>1887274</c:v>
                </c:pt>
                <c:pt idx="24">
                  <c:v>1900723</c:v>
                </c:pt>
                <c:pt idx="25">
                  <c:v>1913426</c:v>
                </c:pt>
                <c:pt idx="26">
                  <c:v>1925488</c:v>
                </c:pt>
                <c:pt idx="27">
                  <c:v>1936621</c:v>
                </c:pt>
                <c:pt idx="28">
                  <c:v>1946590</c:v>
                </c:pt>
              </c:numCache>
            </c:numRef>
          </c:val>
          <c:smooth val="0"/>
          <c:extLst>
            <c:ext xmlns:c16="http://schemas.microsoft.com/office/drawing/2014/chart" uri="{C3380CC4-5D6E-409C-BE32-E72D297353CC}">
              <c16:uniqueId val="{00000000-D187-48AD-865A-6AE4E48F31FC}"/>
            </c:ext>
          </c:extLst>
        </c:ser>
        <c:ser>
          <c:idx val="1"/>
          <c:order val="1"/>
          <c:tx>
            <c:strRef>
              <c:f>Males!$C$1</c:f>
              <c:strCache>
                <c:ptCount val="1"/>
                <c:pt idx="0">
                  <c:v>Real</c:v>
                </c:pt>
              </c:strCache>
            </c:strRef>
          </c:tx>
          <c:spPr>
            <a:ln w="28575" cap="rnd">
              <a:solidFill>
                <a:srgbClr val="FF0000"/>
              </a:solidFill>
              <a:prstDash val="dash"/>
              <a:round/>
            </a:ln>
            <a:effectLst/>
          </c:spPr>
          <c:marker>
            <c:symbol val="none"/>
          </c:marker>
          <c:cat>
            <c:numRef>
              <c:f>Males!$A$2:$A$30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Males!$C$2:$C$30</c:f>
              <c:numCache>
                <c:formatCode>General</c:formatCode>
                <c:ptCount val="29"/>
                <c:pt idx="0">
                  <c:v>1386291</c:v>
                </c:pt>
                <c:pt idx="1">
                  <c:v>1414309</c:v>
                </c:pt>
                <c:pt idx="2">
                  <c:v>1439064</c:v>
                </c:pt>
                <c:pt idx="3">
                  <c:v>1464223</c:v>
                </c:pt>
                <c:pt idx="4">
                  <c:v>1489181</c:v>
                </c:pt>
                <c:pt idx="5">
                  <c:v>1514020</c:v>
                </c:pt>
                <c:pt idx="6">
                  <c:v>1540018</c:v>
                </c:pt>
                <c:pt idx="7">
                  <c:v>1565751</c:v>
                </c:pt>
                <c:pt idx="8">
                  <c:v>1591816</c:v>
                </c:pt>
                <c:pt idx="9">
                  <c:v>1614805</c:v>
                </c:pt>
                <c:pt idx="10">
                  <c:v>1634667</c:v>
                </c:pt>
                <c:pt idx="11">
                  <c:v>1658558</c:v>
                </c:pt>
                <c:pt idx="12">
                  <c:v>1684295</c:v>
                </c:pt>
                <c:pt idx="13">
                  <c:v>1673401</c:v>
                </c:pt>
                <c:pt idx="14">
                  <c:v>1695031</c:v>
                </c:pt>
                <c:pt idx="15">
                  <c:v>1721139</c:v>
                </c:pt>
                <c:pt idx="16">
                  <c:v>1748242</c:v>
                </c:pt>
                <c:pt idx="17">
                  <c:v>1775477</c:v>
                </c:pt>
                <c:pt idx="18">
                  <c:v>1802992</c:v>
                </c:pt>
                <c:pt idx="19">
                  <c:v>1844732</c:v>
                </c:pt>
                <c:pt idx="20">
                  <c:v>1861133</c:v>
                </c:pt>
                <c:pt idx="21">
                  <c:v>1868170</c:v>
                </c:pt>
                <c:pt idx="22">
                  <c:v>1880046</c:v>
                </c:pt>
                <c:pt idx="23">
                  <c:v>1891504</c:v>
                </c:pt>
                <c:pt idx="24">
                  <c:v>1902410</c:v>
                </c:pt>
                <c:pt idx="25">
                  <c:v>1916628</c:v>
                </c:pt>
                <c:pt idx="26">
                  <c:v>1929526</c:v>
                </c:pt>
                <c:pt idx="27">
                  <c:v>1943545</c:v>
                </c:pt>
                <c:pt idx="28">
                  <c:v>1955838</c:v>
                </c:pt>
              </c:numCache>
            </c:numRef>
          </c:val>
          <c:smooth val="0"/>
          <c:extLst>
            <c:ext xmlns:c16="http://schemas.microsoft.com/office/drawing/2014/chart" uri="{C3380CC4-5D6E-409C-BE32-E72D297353CC}">
              <c16:uniqueId val="{00000001-D187-48AD-865A-6AE4E48F31FC}"/>
            </c:ext>
          </c:extLst>
        </c:ser>
        <c:dLbls>
          <c:showLegendKey val="0"/>
          <c:showVal val="0"/>
          <c:showCatName val="0"/>
          <c:showSerName val="0"/>
          <c:showPercent val="0"/>
          <c:showBubbleSize val="0"/>
        </c:dLbls>
        <c:smooth val="0"/>
        <c:axId val="1972413824"/>
        <c:axId val="1972416736"/>
      </c:lineChart>
      <c:catAx>
        <c:axId val="19724138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72416736"/>
        <c:crosses val="autoZero"/>
        <c:auto val="1"/>
        <c:lblAlgn val="ctr"/>
        <c:lblOffset val="100"/>
        <c:noMultiLvlLbl val="0"/>
      </c:catAx>
      <c:valAx>
        <c:axId val="1972416736"/>
        <c:scaling>
          <c:orientation val="minMax"/>
          <c:min val="1000000"/>
        </c:scaling>
        <c:delete val="0"/>
        <c:axPos val="l"/>
        <c:majorGridlines>
          <c:spPr>
            <a:ln w="9525" cap="flat" cmpd="sng" algn="ctr">
              <a:solidFill>
                <a:schemeClr val="bg1">
                  <a:lumMod val="75000"/>
                  <a:lumOff val="25000"/>
                  <a:alpha val="99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7241382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0" i="0" u="none" strike="noStrike" kern="1200" spc="0" baseline="0">
                <a:solidFill>
                  <a:schemeClr val="tx1">
                    <a:lumMod val="65000"/>
                    <a:lumOff val="35000"/>
                  </a:schemeClr>
                </a:solidFill>
                <a:latin typeface="+mn-lt"/>
                <a:ea typeface="+mn-ea"/>
                <a:cs typeface="+mn-cs"/>
              </a:defRPr>
            </a:pPr>
            <a:r>
              <a:rPr lang="en-SG" sz="1500" baseline="0" dirty="0" smtClean="0"/>
              <a:t>Total female residents</a:t>
            </a:r>
            <a:endParaRPr lang="en-SG" sz="1500" baseline="0" dirty="0"/>
          </a:p>
        </c:rich>
      </c:tx>
      <c:layout/>
      <c:overlay val="0"/>
      <c:spPr>
        <a:noFill/>
        <a:ln>
          <a:noFill/>
        </a:ln>
        <a:effectLst/>
      </c:spPr>
      <c:txPr>
        <a:bodyPr rot="0" spcFirstLastPara="1" vertOverflow="ellipsis" vert="horz" wrap="square" anchor="ctr" anchorCtr="1"/>
        <a:lstStyle/>
        <a:p>
          <a:pPr>
            <a:defRPr sz="15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Females!$B$1</c:f>
              <c:strCache>
                <c:ptCount val="1"/>
                <c:pt idx="0">
                  <c:v>Model</c:v>
                </c:pt>
              </c:strCache>
            </c:strRef>
          </c:tx>
          <c:spPr>
            <a:ln w="28575" cap="rnd">
              <a:solidFill>
                <a:srgbClr val="FFFF00"/>
              </a:solidFill>
              <a:round/>
            </a:ln>
            <a:effectLst/>
          </c:spPr>
          <c:marker>
            <c:symbol val="none"/>
          </c:marker>
          <c:cat>
            <c:numRef>
              <c:f>Females!$A$2:$A$30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Females!$B$2:$B$30</c:f>
              <c:numCache>
                <c:formatCode>General</c:formatCode>
                <c:ptCount val="29"/>
                <c:pt idx="0">
                  <c:v>1349569</c:v>
                </c:pt>
                <c:pt idx="1">
                  <c:v>1379495</c:v>
                </c:pt>
                <c:pt idx="2">
                  <c:v>1411663</c:v>
                </c:pt>
                <c:pt idx="3">
                  <c:v>1444741</c:v>
                </c:pt>
                <c:pt idx="4">
                  <c:v>1478083</c:v>
                </c:pt>
                <c:pt idx="5">
                  <c:v>1511771</c:v>
                </c:pt>
                <c:pt idx="6">
                  <c:v>1545788</c:v>
                </c:pt>
                <c:pt idx="7">
                  <c:v>1579141</c:v>
                </c:pt>
                <c:pt idx="8">
                  <c:v>1611165</c:v>
                </c:pt>
                <c:pt idx="9">
                  <c:v>1641443</c:v>
                </c:pt>
                <c:pt idx="10">
                  <c:v>1670381</c:v>
                </c:pt>
                <c:pt idx="11">
                  <c:v>1697483</c:v>
                </c:pt>
                <c:pt idx="12">
                  <c:v>1723219</c:v>
                </c:pt>
                <c:pt idx="13">
                  <c:v>1747262</c:v>
                </c:pt>
                <c:pt idx="14">
                  <c:v>1769779</c:v>
                </c:pt>
                <c:pt idx="15">
                  <c:v>1791859</c:v>
                </c:pt>
                <c:pt idx="16">
                  <c:v>1812881</c:v>
                </c:pt>
                <c:pt idx="17">
                  <c:v>1833113</c:v>
                </c:pt>
                <c:pt idx="18">
                  <c:v>1853018</c:v>
                </c:pt>
                <c:pt idx="19">
                  <c:v>1872637</c:v>
                </c:pt>
                <c:pt idx="20">
                  <c:v>1891998</c:v>
                </c:pt>
                <c:pt idx="21">
                  <c:v>1911349</c:v>
                </c:pt>
                <c:pt idx="22">
                  <c:v>1930412</c:v>
                </c:pt>
                <c:pt idx="23">
                  <c:v>1948899</c:v>
                </c:pt>
                <c:pt idx="24">
                  <c:v>1967102</c:v>
                </c:pt>
                <c:pt idx="25">
                  <c:v>1984243</c:v>
                </c:pt>
                <c:pt idx="26">
                  <c:v>2000836</c:v>
                </c:pt>
                <c:pt idx="27">
                  <c:v>2016516</c:v>
                </c:pt>
                <c:pt idx="28">
                  <c:v>2031392</c:v>
                </c:pt>
              </c:numCache>
            </c:numRef>
          </c:val>
          <c:smooth val="0"/>
          <c:extLst>
            <c:ext xmlns:c16="http://schemas.microsoft.com/office/drawing/2014/chart" uri="{C3380CC4-5D6E-409C-BE32-E72D297353CC}">
              <c16:uniqueId val="{00000000-51D0-4A44-91AF-E3B7BF8BA769}"/>
            </c:ext>
          </c:extLst>
        </c:ser>
        <c:ser>
          <c:idx val="1"/>
          <c:order val="1"/>
          <c:tx>
            <c:strRef>
              <c:f>Females!$C$1</c:f>
              <c:strCache>
                <c:ptCount val="1"/>
                <c:pt idx="0">
                  <c:v>Real</c:v>
                </c:pt>
              </c:strCache>
            </c:strRef>
          </c:tx>
          <c:spPr>
            <a:ln w="28575" cap="rnd">
              <a:solidFill>
                <a:srgbClr val="FF0000"/>
              </a:solidFill>
              <a:prstDash val="dash"/>
              <a:round/>
            </a:ln>
            <a:effectLst/>
          </c:spPr>
          <c:marker>
            <c:symbol val="none"/>
          </c:marker>
          <c:cat>
            <c:numRef>
              <c:f>Females!$A$2:$A$30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Females!$C$2:$C$30</c:f>
              <c:numCache>
                <c:formatCode>General</c:formatCode>
                <c:ptCount val="29"/>
                <c:pt idx="0">
                  <c:v>1349577</c:v>
                </c:pt>
                <c:pt idx="1">
                  <c:v>1380398</c:v>
                </c:pt>
                <c:pt idx="2">
                  <c:v>1410689</c:v>
                </c:pt>
                <c:pt idx="3">
                  <c:v>1440326</c:v>
                </c:pt>
                <c:pt idx="4">
                  <c:v>1470169</c:v>
                </c:pt>
                <c:pt idx="5">
                  <c:v>1499504</c:v>
                </c:pt>
                <c:pt idx="6">
                  <c:v>1528112</c:v>
                </c:pt>
                <c:pt idx="7">
                  <c:v>1557652</c:v>
                </c:pt>
                <c:pt idx="8">
                  <c:v>1588202</c:v>
                </c:pt>
                <c:pt idx="9">
                  <c:v>1614877</c:v>
                </c:pt>
                <c:pt idx="10">
                  <c:v>1638696</c:v>
                </c:pt>
                <c:pt idx="11">
                  <c:v>1667344</c:v>
                </c:pt>
                <c:pt idx="12">
                  <c:v>1698649</c:v>
                </c:pt>
                <c:pt idx="13">
                  <c:v>1693490</c:v>
                </c:pt>
                <c:pt idx="14">
                  <c:v>1718235</c:v>
                </c:pt>
                <c:pt idx="15">
                  <c:v>1746675</c:v>
                </c:pt>
                <c:pt idx="16">
                  <c:v>1777652</c:v>
                </c:pt>
                <c:pt idx="17">
                  <c:v>1807605</c:v>
                </c:pt>
                <c:pt idx="18">
                  <c:v>1839667</c:v>
                </c:pt>
                <c:pt idx="19">
                  <c:v>1889144</c:v>
                </c:pt>
                <c:pt idx="20">
                  <c:v>1910588</c:v>
                </c:pt>
                <c:pt idx="21">
                  <c:v>1921081</c:v>
                </c:pt>
                <c:pt idx="22">
                  <c:v>1938159</c:v>
                </c:pt>
                <c:pt idx="23">
                  <c:v>1953247</c:v>
                </c:pt>
                <c:pt idx="24">
                  <c:v>1968329</c:v>
                </c:pt>
                <c:pt idx="25">
                  <c:v>1986062</c:v>
                </c:pt>
                <c:pt idx="26">
                  <c:v>2004033</c:v>
                </c:pt>
                <c:pt idx="27">
                  <c:v>2022251</c:v>
                </c:pt>
                <c:pt idx="28">
                  <c:v>2038445</c:v>
                </c:pt>
              </c:numCache>
            </c:numRef>
          </c:val>
          <c:smooth val="0"/>
          <c:extLst>
            <c:ext xmlns:c16="http://schemas.microsoft.com/office/drawing/2014/chart" uri="{C3380CC4-5D6E-409C-BE32-E72D297353CC}">
              <c16:uniqueId val="{00000001-51D0-4A44-91AF-E3B7BF8BA769}"/>
            </c:ext>
          </c:extLst>
        </c:ser>
        <c:dLbls>
          <c:showLegendKey val="0"/>
          <c:showVal val="0"/>
          <c:showCatName val="0"/>
          <c:showSerName val="0"/>
          <c:showPercent val="0"/>
          <c:showBubbleSize val="0"/>
        </c:dLbls>
        <c:smooth val="0"/>
        <c:axId val="1972426720"/>
        <c:axId val="1972413824"/>
      </c:lineChart>
      <c:catAx>
        <c:axId val="1972426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72413824"/>
        <c:crosses val="autoZero"/>
        <c:auto val="1"/>
        <c:lblAlgn val="ctr"/>
        <c:lblOffset val="100"/>
        <c:noMultiLvlLbl val="0"/>
      </c:catAx>
      <c:valAx>
        <c:axId val="1972413824"/>
        <c:scaling>
          <c:orientation val="minMax"/>
          <c:min val="1000000"/>
        </c:scaling>
        <c:delete val="0"/>
        <c:axPos val="l"/>
        <c:majorGridlines>
          <c:spPr>
            <a:ln w="9525" cap="flat" cmpd="sng" algn="ctr">
              <a:solidFill>
                <a:schemeClr val="bg1">
                  <a:lumMod val="75000"/>
                  <a:lumOff val="25000"/>
                </a:schemeClr>
              </a:solidFill>
              <a:round/>
            </a:ln>
            <a:effectLst>
              <a:glow>
                <a:schemeClr val="accent1"/>
              </a:glow>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7242672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SG" dirty="0" smtClean="0"/>
              <a:t>Average Age of Male</a:t>
            </a:r>
            <a:r>
              <a:rPr lang="en-SG" baseline="0" dirty="0" smtClean="0"/>
              <a:t> residents</a:t>
            </a:r>
            <a:endParaRPr lang="en-SG"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'Males AverageAge'!$B$1</c:f>
              <c:strCache>
                <c:ptCount val="1"/>
                <c:pt idx="0">
                  <c:v>Model</c:v>
                </c:pt>
              </c:strCache>
            </c:strRef>
          </c:tx>
          <c:spPr>
            <a:ln w="28575" cap="rnd">
              <a:solidFill>
                <a:srgbClr val="FFFF00"/>
              </a:solidFill>
              <a:round/>
            </a:ln>
            <a:effectLst/>
          </c:spPr>
          <c:marker>
            <c:symbol val="none"/>
          </c:marker>
          <c:cat>
            <c:numRef>
              <c:f>'Males AverageAge'!$A$2:$A$30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'Males AverageAge'!$B$2:$B$30</c:f>
              <c:numCache>
                <c:formatCode>General</c:formatCode>
                <c:ptCount val="29"/>
                <c:pt idx="0">
                  <c:v>30.1919998153348</c:v>
                </c:pt>
                <c:pt idx="1">
                  <c:v>30.4308266649284</c:v>
                </c:pt>
                <c:pt idx="2">
                  <c:v>30.6928198338146</c:v>
                </c:pt>
                <c:pt idx="3">
                  <c:v>30.976324464833201</c:v>
                </c:pt>
                <c:pt idx="4">
                  <c:v>31.260839115977198</c:v>
                </c:pt>
                <c:pt idx="5">
                  <c:v>31.566358300809</c:v>
                </c:pt>
                <c:pt idx="6">
                  <c:v>31.889651273402901</c:v>
                </c:pt>
                <c:pt idx="7">
                  <c:v>32.232496288575099</c:v>
                </c:pt>
                <c:pt idx="8">
                  <c:v>32.577345675025803</c:v>
                </c:pt>
                <c:pt idx="9">
                  <c:v>32.947648294999297</c:v>
                </c:pt>
                <c:pt idx="10">
                  <c:v>33.324774357745703</c:v>
                </c:pt>
                <c:pt idx="11">
                  <c:v>33.714744442333199</c:v>
                </c:pt>
                <c:pt idx="12">
                  <c:v>34.112418407932402</c:v>
                </c:pt>
                <c:pt idx="13">
                  <c:v>34.5214073558693</c:v>
                </c:pt>
                <c:pt idx="14">
                  <c:v>34.939756903165097</c:v>
                </c:pt>
                <c:pt idx="15">
                  <c:v>35.356579839882301</c:v>
                </c:pt>
                <c:pt idx="16">
                  <c:v>35.781237186364301</c:v>
                </c:pt>
                <c:pt idx="17">
                  <c:v>36.2013375379995</c:v>
                </c:pt>
                <c:pt idx="18">
                  <c:v>36.615704923097198</c:v>
                </c:pt>
                <c:pt idx="19">
                  <c:v>37.032196721096199</c:v>
                </c:pt>
                <c:pt idx="20">
                  <c:v>37.438055216683999</c:v>
                </c:pt>
                <c:pt idx="21">
                  <c:v>37.834592583544399</c:v>
                </c:pt>
                <c:pt idx="22">
                  <c:v>38.227200709161103</c:v>
                </c:pt>
                <c:pt idx="23">
                  <c:v>38.604825247520203</c:v>
                </c:pt>
                <c:pt idx="24">
                  <c:v>38.970873500222602</c:v>
                </c:pt>
                <c:pt idx="25">
                  <c:v>39.335985760762803</c:v>
                </c:pt>
                <c:pt idx="26">
                  <c:v>39.689341264220197</c:v>
                </c:pt>
                <c:pt idx="27">
                  <c:v>40.031063839900597</c:v>
                </c:pt>
                <c:pt idx="28">
                  <c:v>40.364684988472803</c:v>
                </c:pt>
              </c:numCache>
            </c:numRef>
          </c:val>
          <c:smooth val="0"/>
          <c:extLst>
            <c:ext xmlns:c16="http://schemas.microsoft.com/office/drawing/2014/chart" uri="{C3380CC4-5D6E-409C-BE32-E72D297353CC}">
              <c16:uniqueId val="{00000000-13A9-4E4F-9C96-44ED7BDE708E}"/>
            </c:ext>
          </c:extLst>
        </c:ser>
        <c:ser>
          <c:idx val="1"/>
          <c:order val="1"/>
          <c:tx>
            <c:strRef>
              <c:f>'Males AverageAge'!$C$1</c:f>
              <c:strCache>
                <c:ptCount val="1"/>
                <c:pt idx="0">
                  <c:v>Real</c:v>
                </c:pt>
              </c:strCache>
            </c:strRef>
          </c:tx>
          <c:spPr>
            <a:ln w="28575" cap="rnd">
              <a:solidFill>
                <a:srgbClr val="FF0000"/>
              </a:solidFill>
              <a:round/>
            </a:ln>
            <a:effectLst/>
          </c:spPr>
          <c:marker>
            <c:symbol val="none"/>
          </c:marker>
          <c:cat>
            <c:numRef>
              <c:f>'Males AverageAge'!$A$2:$A$30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'Males AverageAge'!$C$2:$C$30</c:f>
              <c:numCache>
                <c:formatCode>General</c:formatCode>
                <c:ptCount val="29"/>
                <c:pt idx="0">
                  <c:v>30.164703514630045</c:v>
                </c:pt>
                <c:pt idx="1">
                  <c:v>30.363228969058387</c:v>
                </c:pt>
                <c:pt idx="2">
                  <c:v>30.606236414780717</c:v>
                </c:pt>
                <c:pt idx="3">
                  <c:v>30.845657389618932</c:v>
                </c:pt>
                <c:pt idx="4">
                  <c:v>31.103282273947894</c:v>
                </c:pt>
                <c:pt idx="5">
                  <c:v>31.342934703636676</c:v>
                </c:pt>
                <c:pt idx="6">
                  <c:v>31.591553475348988</c:v>
                </c:pt>
                <c:pt idx="7">
                  <c:v>31.854188181901208</c:v>
                </c:pt>
                <c:pt idx="8">
                  <c:v>32.141765756846269</c:v>
                </c:pt>
                <c:pt idx="9">
                  <c:v>32.479413923043339</c:v>
                </c:pt>
                <c:pt idx="10">
                  <c:v>32.810834867284896</c:v>
                </c:pt>
                <c:pt idx="11">
                  <c:v>33.116735139802167</c:v>
                </c:pt>
                <c:pt idx="12">
                  <c:v>33.448891079056814</c:v>
                </c:pt>
                <c:pt idx="13">
                  <c:v>33.61786087136317</c:v>
                </c:pt>
                <c:pt idx="14">
                  <c:v>34.056732295751523</c:v>
                </c:pt>
                <c:pt idx="15">
                  <c:v>34.412579692866174</c:v>
                </c:pt>
                <c:pt idx="16">
                  <c:v>34.779838260378142</c:v>
                </c:pt>
                <c:pt idx="17">
                  <c:v>35.134450629323837</c:v>
                </c:pt>
                <c:pt idx="18">
                  <c:v>35.472677638059402</c:v>
                </c:pt>
                <c:pt idx="19">
                  <c:v>35.791165871248509</c:v>
                </c:pt>
                <c:pt idx="20">
                  <c:v>36.192416662323431</c:v>
                </c:pt>
                <c:pt idx="21">
                  <c:v>36.668175273128249</c:v>
                </c:pt>
                <c:pt idx="22">
                  <c:v>37.070979646242698</c:v>
                </c:pt>
                <c:pt idx="23">
                  <c:v>37.484027525186306</c:v>
                </c:pt>
                <c:pt idx="24">
                  <c:v>37.890057873959869</c:v>
                </c:pt>
                <c:pt idx="25">
                  <c:v>38.239789359228816</c:v>
                </c:pt>
                <c:pt idx="26">
                  <c:v>38.59660973731372</c:v>
                </c:pt>
                <c:pt idx="27">
                  <c:v>38.932587102433956</c:v>
                </c:pt>
                <c:pt idx="28">
                  <c:v>39.30658929829567</c:v>
                </c:pt>
              </c:numCache>
            </c:numRef>
          </c:val>
          <c:smooth val="0"/>
          <c:extLst>
            <c:ext xmlns:c16="http://schemas.microsoft.com/office/drawing/2014/chart" uri="{C3380CC4-5D6E-409C-BE32-E72D297353CC}">
              <c16:uniqueId val="{00000001-13A9-4E4F-9C96-44ED7BDE708E}"/>
            </c:ext>
          </c:extLst>
        </c:ser>
        <c:dLbls>
          <c:showLegendKey val="0"/>
          <c:showVal val="0"/>
          <c:showCatName val="0"/>
          <c:showSerName val="0"/>
          <c:showPercent val="0"/>
          <c:showBubbleSize val="0"/>
        </c:dLbls>
        <c:smooth val="0"/>
        <c:axId val="1664649056"/>
        <c:axId val="1664649472"/>
      </c:lineChart>
      <c:catAx>
        <c:axId val="1664649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664649472"/>
        <c:crosses val="autoZero"/>
        <c:auto val="1"/>
        <c:lblAlgn val="ctr"/>
        <c:lblOffset val="100"/>
        <c:noMultiLvlLbl val="0"/>
      </c:catAx>
      <c:valAx>
        <c:axId val="1664649472"/>
        <c:scaling>
          <c:orientation val="minMax"/>
          <c:min val="25"/>
        </c:scaling>
        <c:delete val="0"/>
        <c:axPos val="l"/>
        <c:majorGridlines>
          <c:spPr>
            <a:ln w="9525" cap="flat" cmpd="sng" algn="ctr">
              <a:solidFill>
                <a:schemeClr val="tx1">
                  <a:alpha val="17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66464905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0" i="0" u="none" strike="noStrike" kern="1200" spc="0" baseline="0">
                <a:solidFill>
                  <a:schemeClr val="tx1">
                    <a:lumMod val="65000"/>
                    <a:lumOff val="35000"/>
                  </a:schemeClr>
                </a:solidFill>
                <a:latin typeface="+mn-lt"/>
                <a:ea typeface="+mn-ea"/>
                <a:cs typeface="+mn-cs"/>
              </a:defRPr>
            </a:pPr>
            <a:r>
              <a:rPr lang="en-US" sz="1500" baseline="0" dirty="0" smtClean="0"/>
              <a:t>Average Age of Female residents</a:t>
            </a:r>
            <a:endParaRPr lang="en-SG" sz="1500" baseline="0" dirty="0"/>
          </a:p>
        </c:rich>
      </c:tx>
      <c:layout/>
      <c:overlay val="0"/>
      <c:spPr>
        <a:noFill/>
        <a:ln>
          <a:noFill/>
        </a:ln>
        <a:effectLst/>
      </c:spPr>
      <c:txPr>
        <a:bodyPr rot="0" spcFirstLastPara="1" vertOverflow="ellipsis" vert="horz" wrap="square" anchor="ctr" anchorCtr="1"/>
        <a:lstStyle/>
        <a:p>
          <a:pPr>
            <a:defRPr sz="15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'Females AverageAge'!$B$1</c:f>
              <c:strCache>
                <c:ptCount val="1"/>
                <c:pt idx="0">
                  <c:v>Model</c:v>
                </c:pt>
              </c:strCache>
            </c:strRef>
          </c:tx>
          <c:spPr>
            <a:ln w="28575" cap="rnd">
              <a:solidFill>
                <a:srgbClr val="FFFF00"/>
              </a:solidFill>
              <a:round/>
            </a:ln>
            <a:effectLst/>
          </c:spPr>
          <c:marker>
            <c:symbol val="none"/>
          </c:marker>
          <c:cat>
            <c:numRef>
              <c:f>'Females AverageAge'!$A$2:$A$30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'Females AverageAge'!$B$2:$B$30</c:f>
              <c:numCache>
                <c:formatCode>General</c:formatCode>
                <c:ptCount val="29"/>
                <c:pt idx="0">
                  <c:v>31.205501904682102</c:v>
                </c:pt>
                <c:pt idx="1">
                  <c:v>31.381884952018599</c:v>
                </c:pt>
                <c:pt idx="2">
                  <c:v>31.579418146424601</c:v>
                </c:pt>
                <c:pt idx="3">
                  <c:v>31.8025931363286</c:v>
                </c:pt>
                <c:pt idx="4">
                  <c:v>32.051973541332998</c:v>
                </c:pt>
                <c:pt idx="5">
                  <c:v>32.320953559642398</c:v>
                </c:pt>
                <c:pt idx="6">
                  <c:v>32.590927057678797</c:v>
                </c:pt>
                <c:pt idx="7">
                  <c:v>32.879331558946397</c:v>
                </c:pt>
                <c:pt idx="8">
                  <c:v>33.198229226147603</c:v>
                </c:pt>
                <c:pt idx="9">
                  <c:v>33.5293785083567</c:v>
                </c:pt>
                <c:pt idx="10">
                  <c:v>33.878453640649496</c:v>
                </c:pt>
                <c:pt idx="11">
                  <c:v>34.240801233101401</c:v>
                </c:pt>
                <c:pt idx="12">
                  <c:v>34.6137972550383</c:v>
                </c:pt>
                <c:pt idx="13">
                  <c:v>34.999138258296902</c:v>
                </c:pt>
                <c:pt idx="14">
                  <c:v>35.403119120413898</c:v>
                </c:pt>
                <c:pt idx="15">
                  <c:v>35.808439005648999</c:v>
                </c:pt>
                <c:pt idx="16">
                  <c:v>36.218796297727302</c:v>
                </c:pt>
                <c:pt idx="17">
                  <c:v>36.632372530479302</c:v>
                </c:pt>
                <c:pt idx="18">
                  <c:v>37.046359947977599</c:v>
                </c:pt>
                <c:pt idx="19">
                  <c:v>37.446892727231898</c:v>
                </c:pt>
                <c:pt idx="20">
                  <c:v>37.848285807696001</c:v>
                </c:pt>
                <c:pt idx="21">
                  <c:v>38.234639209163497</c:v>
                </c:pt>
                <c:pt idx="22">
                  <c:v>38.613795410172699</c:v>
                </c:pt>
                <c:pt idx="23">
                  <c:v>38.987005208293198</c:v>
                </c:pt>
                <c:pt idx="24">
                  <c:v>39.3528472283014</c:v>
                </c:pt>
                <c:pt idx="25">
                  <c:v>39.710172344713598</c:v>
                </c:pt>
                <c:pt idx="26">
                  <c:v>40.056824847107798</c:v>
                </c:pt>
                <c:pt idx="27">
                  <c:v>40.400533852453101</c:v>
                </c:pt>
                <c:pt idx="28">
                  <c:v>40.741047081855697</c:v>
                </c:pt>
              </c:numCache>
            </c:numRef>
          </c:val>
          <c:smooth val="0"/>
          <c:extLst>
            <c:ext xmlns:c16="http://schemas.microsoft.com/office/drawing/2014/chart" uri="{C3380CC4-5D6E-409C-BE32-E72D297353CC}">
              <c16:uniqueId val="{00000000-ADE9-4BB1-84B4-13CA100F283A}"/>
            </c:ext>
          </c:extLst>
        </c:ser>
        <c:ser>
          <c:idx val="1"/>
          <c:order val="1"/>
          <c:tx>
            <c:strRef>
              <c:f>'Females AverageAge'!$C$1</c:f>
              <c:strCache>
                <c:ptCount val="1"/>
                <c:pt idx="0">
                  <c:v>Real</c:v>
                </c:pt>
              </c:strCache>
            </c:strRef>
          </c:tx>
          <c:spPr>
            <a:ln w="28575" cap="rnd">
              <a:solidFill>
                <a:srgbClr val="FF0000"/>
              </a:solidFill>
              <a:round/>
            </a:ln>
            <a:effectLst/>
          </c:spPr>
          <c:marker>
            <c:symbol val="none"/>
          </c:marker>
          <c:cat>
            <c:numRef>
              <c:f>'Females AverageAge'!$A$2:$A$30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'Females AverageAge'!$C$2:$C$30</c:f>
              <c:numCache>
                <c:formatCode>General</c:formatCode>
                <c:ptCount val="29"/>
                <c:pt idx="0">
                  <c:v>31.185489231070179</c:v>
                </c:pt>
                <c:pt idx="1">
                  <c:v>31.384137763166855</c:v>
                </c:pt>
                <c:pt idx="2">
                  <c:v>31.612224948234516</c:v>
                </c:pt>
                <c:pt idx="3">
                  <c:v>31.858962484881896</c:v>
                </c:pt>
                <c:pt idx="4">
                  <c:v>32.11360258582517</c:v>
                </c:pt>
                <c:pt idx="5">
                  <c:v>32.368041699121846</c:v>
                </c:pt>
                <c:pt idx="6">
                  <c:v>32.625916163213169</c:v>
                </c:pt>
                <c:pt idx="7">
                  <c:v>32.89752396555842</c:v>
                </c:pt>
                <c:pt idx="8">
                  <c:v>33.178889713021391</c:v>
                </c:pt>
                <c:pt idx="9">
                  <c:v>33.52742902400616</c:v>
                </c:pt>
                <c:pt idx="10">
                  <c:v>33.867201116009312</c:v>
                </c:pt>
                <c:pt idx="11">
                  <c:v>34.189470199311003</c:v>
                </c:pt>
                <c:pt idx="12">
                  <c:v>34.527850073793935</c:v>
                </c:pt>
                <c:pt idx="13">
                  <c:v>34.762227707279052</c:v>
                </c:pt>
                <c:pt idx="14">
                  <c:v>35.207975044158687</c:v>
                </c:pt>
                <c:pt idx="15">
                  <c:v>35.575121301902186</c:v>
                </c:pt>
                <c:pt idx="16">
                  <c:v>35.924592664931041</c:v>
                </c:pt>
                <c:pt idx="17">
                  <c:v>36.270913722854274</c:v>
                </c:pt>
                <c:pt idx="18">
                  <c:v>36.578350321009182</c:v>
                </c:pt>
                <c:pt idx="19">
                  <c:v>36.840639464222953</c:v>
                </c:pt>
                <c:pt idx="20">
                  <c:v>37.244720473487746</c:v>
                </c:pt>
                <c:pt idx="21">
                  <c:v>37.747235540823112</c:v>
                </c:pt>
                <c:pt idx="22">
                  <c:v>38.14985406254079</c:v>
                </c:pt>
                <c:pt idx="23">
                  <c:v>38.57440917610522</c:v>
                </c:pt>
                <c:pt idx="24">
                  <c:v>39.003684343420232</c:v>
                </c:pt>
                <c:pt idx="25">
                  <c:v>39.369847970506463</c:v>
                </c:pt>
                <c:pt idx="26">
                  <c:v>39.752062965031016</c:v>
                </c:pt>
                <c:pt idx="27">
                  <c:v>40.122208865269442</c:v>
                </c:pt>
                <c:pt idx="28">
                  <c:v>40.523911609094185</c:v>
                </c:pt>
              </c:numCache>
            </c:numRef>
          </c:val>
          <c:smooth val="0"/>
          <c:extLst>
            <c:ext xmlns:c16="http://schemas.microsoft.com/office/drawing/2014/chart" uri="{C3380CC4-5D6E-409C-BE32-E72D297353CC}">
              <c16:uniqueId val="{00000001-ADE9-4BB1-84B4-13CA100F283A}"/>
            </c:ext>
          </c:extLst>
        </c:ser>
        <c:dLbls>
          <c:showLegendKey val="0"/>
          <c:showVal val="0"/>
          <c:showCatName val="0"/>
          <c:showSerName val="0"/>
          <c:showPercent val="0"/>
          <c:showBubbleSize val="0"/>
        </c:dLbls>
        <c:smooth val="0"/>
        <c:axId val="1968058672"/>
        <c:axId val="1968059088"/>
      </c:lineChart>
      <c:catAx>
        <c:axId val="1968058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68059088"/>
        <c:crosses val="autoZero"/>
        <c:auto val="1"/>
        <c:lblAlgn val="ctr"/>
        <c:lblOffset val="100"/>
        <c:noMultiLvlLbl val="0"/>
      </c:catAx>
      <c:valAx>
        <c:axId val="1968059088"/>
        <c:scaling>
          <c:orientation val="minMax"/>
          <c:min val="30"/>
        </c:scaling>
        <c:delete val="0"/>
        <c:axPos val="l"/>
        <c:majorGridlines>
          <c:spPr>
            <a:ln w="9525" cap="flat" cmpd="sng" algn="ctr">
              <a:solidFill>
                <a:schemeClr val="tx1">
                  <a:alpha val="14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68058672"/>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SG" sz="1600" dirty="0" smtClean="0"/>
              <a:t>Single Males</a:t>
            </a:r>
            <a:endParaRPr lang="en-SG" sz="1600"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SM!$B$1</c:f>
              <c:strCache>
                <c:ptCount val="1"/>
                <c:pt idx="0">
                  <c:v>Model</c:v>
                </c:pt>
              </c:strCache>
            </c:strRef>
          </c:tx>
          <c:spPr>
            <a:ln w="28575" cap="rnd">
              <a:solidFill>
                <a:srgbClr val="FF0000"/>
              </a:solidFill>
              <a:round/>
            </a:ln>
            <a:effectLst/>
          </c:spPr>
          <c:marker>
            <c:symbol val="none"/>
          </c:marker>
          <c:cat>
            <c:numRef>
              <c:f>SM!$A$2:$A$30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SM!$B$2:$B$30</c:f>
              <c:numCache>
                <c:formatCode>General</c:formatCode>
                <c:ptCount val="29"/>
                <c:pt idx="0">
                  <c:v>308400</c:v>
                </c:pt>
                <c:pt idx="1">
                  <c:v>307837</c:v>
                </c:pt>
                <c:pt idx="2">
                  <c:v>309224</c:v>
                </c:pt>
                <c:pt idx="3">
                  <c:v>311973</c:v>
                </c:pt>
                <c:pt idx="4">
                  <c:v>315763</c:v>
                </c:pt>
                <c:pt idx="5">
                  <c:v>320890</c:v>
                </c:pt>
                <c:pt idx="6">
                  <c:v>326292</c:v>
                </c:pt>
                <c:pt idx="7">
                  <c:v>331611</c:v>
                </c:pt>
                <c:pt idx="8">
                  <c:v>336885</c:v>
                </c:pt>
                <c:pt idx="9">
                  <c:v>341939</c:v>
                </c:pt>
                <c:pt idx="10">
                  <c:v>347120</c:v>
                </c:pt>
                <c:pt idx="11">
                  <c:v>352136</c:v>
                </c:pt>
                <c:pt idx="12">
                  <c:v>357338</c:v>
                </c:pt>
                <c:pt idx="13">
                  <c:v>362676</c:v>
                </c:pt>
                <c:pt idx="14">
                  <c:v>368050</c:v>
                </c:pt>
                <c:pt idx="15">
                  <c:v>374040</c:v>
                </c:pt>
                <c:pt idx="16">
                  <c:v>380098</c:v>
                </c:pt>
                <c:pt idx="17">
                  <c:v>386868</c:v>
                </c:pt>
                <c:pt idx="18">
                  <c:v>393719</c:v>
                </c:pt>
                <c:pt idx="19">
                  <c:v>400759</c:v>
                </c:pt>
                <c:pt idx="20">
                  <c:v>407271</c:v>
                </c:pt>
                <c:pt idx="21">
                  <c:v>414970</c:v>
                </c:pt>
                <c:pt idx="22">
                  <c:v>422723</c:v>
                </c:pt>
                <c:pt idx="23">
                  <c:v>429849</c:v>
                </c:pt>
                <c:pt idx="24">
                  <c:v>436240</c:v>
                </c:pt>
                <c:pt idx="25">
                  <c:v>441231</c:v>
                </c:pt>
                <c:pt idx="26">
                  <c:v>445191</c:v>
                </c:pt>
                <c:pt idx="27">
                  <c:v>448171</c:v>
                </c:pt>
                <c:pt idx="28">
                  <c:v>450015</c:v>
                </c:pt>
              </c:numCache>
            </c:numRef>
          </c:val>
          <c:smooth val="0"/>
          <c:extLst>
            <c:ext xmlns:c16="http://schemas.microsoft.com/office/drawing/2014/chart" uri="{C3380CC4-5D6E-409C-BE32-E72D297353CC}">
              <c16:uniqueId val="{00000000-B6E2-4515-AEFC-92500E3FB810}"/>
            </c:ext>
          </c:extLst>
        </c:ser>
        <c:ser>
          <c:idx val="1"/>
          <c:order val="1"/>
          <c:tx>
            <c:strRef>
              <c:f>SM!$C$1</c:f>
              <c:strCache>
                <c:ptCount val="1"/>
                <c:pt idx="0">
                  <c:v>Real</c:v>
                </c:pt>
              </c:strCache>
            </c:strRef>
          </c:tx>
          <c:spPr>
            <a:ln w="28575" cap="rnd">
              <a:solidFill>
                <a:srgbClr val="FFFF00"/>
              </a:solidFill>
              <a:round/>
            </a:ln>
            <a:effectLst/>
          </c:spPr>
          <c:marker>
            <c:symbol val="none"/>
          </c:marker>
          <c:cat>
            <c:numRef>
              <c:f>SM!$A$2:$A$30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SM!$C$2:$C$30</c:f>
              <c:numCache>
                <c:formatCode>General</c:formatCode>
                <c:ptCount val="29"/>
                <c:pt idx="0">
                  <c:v>308400</c:v>
                </c:pt>
                <c:pt idx="1">
                  <c:v>302300</c:v>
                </c:pt>
                <c:pt idx="2">
                  <c:v>312500</c:v>
                </c:pt>
                <c:pt idx="3">
                  <c:v>316100</c:v>
                </c:pt>
                <c:pt idx="4">
                  <c:v>313600</c:v>
                </c:pt>
                <c:pt idx="5">
                  <c:v>313000</c:v>
                </c:pt>
                <c:pt idx="6">
                  <c:v>297300</c:v>
                </c:pt>
                <c:pt idx="7">
                  <c:v>313600</c:v>
                </c:pt>
                <c:pt idx="8">
                  <c:v>306100</c:v>
                </c:pt>
                <c:pt idx="9">
                  <c:v>308500</c:v>
                </c:pt>
                <c:pt idx="10">
                  <c:v>303100</c:v>
                </c:pt>
                <c:pt idx="11">
                  <c:v>304900</c:v>
                </c:pt>
                <c:pt idx="12">
                  <c:v>319800</c:v>
                </c:pt>
                <c:pt idx="13">
                  <c:v>324700</c:v>
                </c:pt>
                <c:pt idx="14">
                  <c:v>332000</c:v>
                </c:pt>
                <c:pt idx="15">
                  <c:v>337000</c:v>
                </c:pt>
                <c:pt idx="16">
                  <c:v>346300</c:v>
                </c:pt>
                <c:pt idx="17">
                  <c:v>344400</c:v>
                </c:pt>
                <c:pt idx="18">
                  <c:v>350700</c:v>
                </c:pt>
                <c:pt idx="19">
                  <c:v>367000</c:v>
                </c:pt>
                <c:pt idx="20">
                  <c:v>387100</c:v>
                </c:pt>
                <c:pt idx="21">
                  <c:v>384500</c:v>
                </c:pt>
                <c:pt idx="22">
                  <c:v>393600</c:v>
                </c:pt>
                <c:pt idx="23">
                  <c:v>396400</c:v>
                </c:pt>
                <c:pt idx="24">
                  <c:v>408100</c:v>
                </c:pt>
                <c:pt idx="25">
                  <c:v>401400</c:v>
                </c:pt>
                <c:pt idx="26">
                  <c:v>412200</c:v>
                </c:pt>
                <c:pt idx="27">
                  <c:v>403600</c:v>
                </c:pt>
                <c:pt idx="28">
                  <c:v>414400</c:v>
                </c:pt>
              </c:numCache>
            </c:numRef>
          </c:val>
          <c:smooth val="0"/>
          <c:extLst>
            <c:ext xmlns:c16="http://schemas.microsoft.com/office/drawing/2014/chart" uri="{C3380CC4-5D6E-409C-BE32-E72D297353CC}">
              <c16:uniqueId val="{00000001-B6E2-4515-AEFC-92500E3FB810}"/>
            </c:ext>
          </c:extLst>
        </c:ser>
        <c:dLbls>
          <c:showLegendKey val="0"/>
          <c:showVal val="0"/>
          <c:showCatName val="0"/>
          <c:showSerName val="0"/>
          <c:showPercent val="0"/>
          <c:showBubbleSize val="0"/>
        </c:dLbls>
        <c:smooth val="0"/>
        <c:axId val="173852272"/>
        <c:axId val="173850192"/>
      </c:lineChart>
      <c:catAx>
        <c:axId val="173852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73850192"/>
        <c:crosses val="autoZero"/>
        <c:auto val="1"/>
        <c:lblAlgn val="ctr"/>
        <c:lblOffset val="100"/>
        <c:noMultiLvlLbl val="0"/>
      </c:catAx>
      <c:valAx>
        <c:axId val="173850192"/>
        <c:scaling>
          <c:orientation val="minMax"/>
        </c:scaling>
        <c:delete val="0"/>
        <c:axPos val="l"/>
        <c:majorGridlines>
          <c:spPr>
            <a:ln w="9525" cap="flat" cmpd="sng" algn="ctr">
              <a:solidFill>
                <a:schemeClr val="accent1">
                  <a:alpha val="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73852272"/>
        <c:crosses val="autoZero"/>
        <c:crossBetween val="between"/>
      </c:valAx>
      <c:spPr>
        <a:noFill/>
        <a:ln>
          <a:solidFill>
            <a:schemeClr val="accent1"/>
          </a:solidFill>
        </a:ln>
        <a:effectLst/>
      </c:spPr>
    </c:plotArea>
    <c:legend>
      <c:legendPos val="b"/>
      <c:layout/>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SG" dirty="0" smtClean="0"/>
              <a:t>Married Males</a:t>
            </a:r>
            <a:endParaRPr lang="en-SG"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MM!$B$1</c:f>
              <c:strCache>
                <c:ptCount val="1"/>
                <c:pt idx="0">
                  <c:v>Model</c:v>
                </c:pt>
              </c:strCache>
            </c:strRef>
          </c:tx>
          <c:spPr>
            <a:ln w="28575" cap="rnd">
              <a:solidFill>
                <a:srgbClr val="FFFF00"/>
              </a:solidFill>
              <a:round/>
            </a:ln>
            <a:effectLst/>
          </c:spPr>
          <c:marker>
            <c:symbol val="none"/>
          </c:marker>
          <c:cat>
            <c:numRef>
              <c:f>MM!$A$2:$A$30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MM!$B$2:$B$30</c:f>
              <c:numCache>
                <c:formatCode>General</c:formatCode>
                <c:ptCount val="29"/>
                <c:pt idx="0">
                  <c:v>600548</c:v>
                </c:pt>
                <c:pt idx="1">
                  <c:v>617276</c:v>
                </c:pt>
                <c:pt idx="2">
                  <c:v>633457</c:v>
                </c:pt>
                <c:pt idx="3">
                  <c:v>649605</c:v>
                </c:pt>
                <c:pt idx="4">
                  <c:v>665484</c:v>
                </c:pt>
                <c:pt idx="5">
                  <c:v>680486</c:v>
                </c:pt>
                <c:pt idx="6">
                  <c:v>694892</c:v>
                </c:pt>
                <c:pt idx="7">
                  <c:v>709129</c:v>
                </c:pt>
                <c:pt idx="8">
                  <c:v>723059</c:v>
                </c:pt>
                <c:pt idx="9">
                  <c:v>736831</c:v>
                </c:pt>
                <c:pt idx="10">
                  <c:v>750099</c:v>
                </c:pt>
                <c:pt idx="11">
                  <c:v>763411</c:v>
                </c:pt>
                <c:pt idx="12">
                  <c:v>776215</c:v>
                </c:pt>
                <c:pt idx="13">
                  <c:v>788367</c:v>
                </c:pt>
                <c:pt idx="14">
                  <c:v>800550</c:v>
                </c:pt>
                <c:pt idx="15">
                  <c:v>812469</c:v>
                </c:pt>
                <c:pt idx="16">
                  <c:v>824322</c:v>
                </c:pt>
                <c:pt idx="17">
                  <c:v>835291</c:v>
                </c:pt>
                <c:pt idx="18">
                  <c:v>846277</c:v>
                </c:pt>
                <c:pt idx="19">
                  <c:v>856790</c:v>
                </c:pt>
                <c:pt idx="20">
                  <c:v>867395</c:v>
                </c:pt>
                <c:pt idx="21">
                  <c:v>877550</c:v>
                </c:pt>
                <c:pt idx="22">
                  <c:v>887757</c:v>
                </c:pt>
                <c:pt idx="23">
                  <c:v>897450</c:v>
                </c:pt>
                <c:pt idx="24">
                  <c:v>906628</c:v>
                </c:pt>
                <c:pt idx="25">
                  <c:v>915336</c:v>
                </c:pt>
                <c:pt idx="26">
                  <c:v>923806</c:v>
                </c:pt>
                <c:pt idx="27">
                  <c:v>931126</c:v>
                </c:pt>
                <c:pt idx="28">
                  <c:v>937379</c:v>
                </c:pt>
              </c:numCache>
            </c:numRef>
          </c:val>
          <c:smooth val="0"/>
          <c:extLst>
            <c:ext xmlns:c16="http://schemas.microsoft.com/office/drawing/2014/chart" uri="{C3380CC4-5D6E-409C-BE32-E72D297353CC}">
              <c16:uniqueId val="{00000000-A182-4486-9988-01FCAF3D5AA6}"/>
            </c:ext>
          </c:extLst>
        </c:ser>
        <c:ser>
          <c:idx val="1"/>
          <c:order val="1"/>
          <c:tx>
            <c:strRef>
              <c:f>MM!$C$1</c:f>
              <c:strCache>
                <c:ptCount val="1"/>
                <c:pt idx="0">
                  <c:v>Real</c:v>
                </c:pt>
              </c:strCache>
            </c:strRef>
          </c:tx>
          <c:spPr>
            <a:ln w="28575" cap="rnd">
              <a:solidFill>
                <a:srgbClr val="FF0000"/>
              </a:solidFill>
              <a:round/>
            </a:ln>
            <a:effectLst/>
          </c:spPr>
          <c:marker>
            <c:symbol val="none"/>
          </c:marker>
          <c:cat>
            <c:numRef>
              <c:f>MM!$A$2:$A$30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MM!$C$2:$C$30</c:f>
              <c:numCache>
                <c:formatCode>General</c:formatCode>
                <c:ptCount val="29"/>
                <c:pt idx="0">
                  <c:v>586400</c:v>
                </c:pt>
                <c:pt idx="1">
                  <c:v>621300</c:v>
                </c:pt>
                <c:pt idx="2">
                  <c:v>633200</c:v>
                </c:pt>
                <c:pt idx="3">
                  <c:v>657300</c:v>
                </c:pt>
                <c:pt idx="4">
                  <c:v>674700</c:v>
                </c:pt>
                <c:pt idx="5">
                  <c:v>692100</c:v>
                </c:pt>
                <c:pt idx="6">
                  <c:v>716800</c:v>
                </c:pt>
                <c:pt idx="7">
                  <c:v>736600</c:v>
                </c:pt>
                <c:pt idx="8">
                  <c:v>750500</c:v>
                </c:pt>
                <c:pt idx="9">
                  <c:v>768500</c:v>
                </c:pt>
                <c:pt idx="10">
                  <c:v>770800</c:v>
                </c:pt>
                <c:pt idx="11">
                  <c:v>792700</c:v>
                </c:pt>
                <c:pt idx="12">
                  <c:v>814200</c:v>
                </c:pt>
                <c:pt idx="13">
                  <c:v>835300</c:v>
                </c:pt>
                <c:pt idx="14">
                  <c:v>846700</c:v>
                </c:pt>
                <c:pt idx="15">
                  <c:v>847000</c:v>
                </c:pt>
                <c:pt idx="16">
                  <c:v>883300</c:v>
                </c:pt>
                <c:pt idx="17">
                  <c:v>894500</c:v>
                </c:pt>
                <c:pt idx="18">
                  <c:v>896000</c:v>
                </c:pt>
                <c:pt idx="19">
                  <c:v>913300</c:v>
                </c:pt>
                <c:pt idx="20">
                  <c:v>928200</c:v>
                </c:pt>
                <c:pt idx="21">
                  <c:v>944200</c:v>
                </c:pt>
                <c:pt idx="22">
                  <c:v>952000</c:v>
                </c:pt>
                <c:pt idx="23">
                  <c:v>963000</c:v>
                </c:pt>
                <c:pt idx="24">
                  <c:v>980900</c:v>
                </c:pt>
                <c:pt idx="25">
                  <c:v>984700</c:v>
                </c:pt>
                <c:pt idx="26">
                  <c:v>993800</c:v>
                </c:pt>
                <c:pt idx="27">
                  <c:v>1026200</c:v>
                </c:pt>
                <c:pt idx="28">
                  <c:v>1025100</c:v>
                </c:pt>
              </c:numCache>
            </c:numRef>
          </c:val>
          <c:smooth val="0"/>
          <c:extLst>
            <c:ext xmlns:c16="http://schemas.microsoft.com/office/drawing/2014/chart" uri="{C3380CC4-5D6E-409C-BE32-E72D297353CC}">
              <c16:uniqueId val="{00000001-A182-4486-9988-01FCAF3D5AA6}"/>
            </c:ext>
          </c:extLst>
        </c:ser>
        <c:dLbls>
          <c:showLegendKey val="0"/>
          <c:showVal val="0"/>
          <c:showCatName val="0"/>
          <c:showSerName val="0"/>
          <c:showPercent val="0"/>
          <c:showBubbleSize val="0"/>
        </c:dLbls>
        <c:smooth val="0"/>
        <c:axId val="1970995520"/>
        <c:axId val="1970990528"/>
      </c:lineChart>
      <c:catAx>
        <c:axId val="197099552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smtClean="0"/>
                  <a:t>Year</a:t>
                </a:r>
                <a:endParaRPr lang="en-SG" dirty="0"/>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70990528"/>
        <c:crosses val="autoZero"/>
        <c:auto val="1"/>
        <c:lblAlgn val="ctr"/>
        <c:lblOffset val="100"/>
        <c:noMultiLvlLbl val="0"/>
      </c:catAx>
      <c:valAx>
        <c:axId val="1970990528"/>
        <c:scaling>
          <c:orientation val="minMax"/>
        </c:scaling>
        <c:delete val="0"/>
        <c:axPos val="l"/>
        <c:majorGridlines>
          <c:spPr>
            <a:ln w="9525" cap="flat" cmpd="sng" algn="ctr">
              <a:solidFill>
                <a:schemeClr val="tx1">
                  <a:alpha val="52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SG" dirty="0" smtClean="0"/>
                  <a:t>Number of people</a:t>
                </a:r>
                <a:endParaRPr lang="en-SG" dirty="0"/>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7099552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0" i="0" u="none" strike="noStrike" kern="1200" spc="0" baseline="0">
                <a:solidFill>
                  <a:schemeClr val="tx1">
                    <a:lumMod val="65000"/>
                    <a:lumOff val="35000"/>
                  </a:schemeClr>
                </a:solidFill>
                <a:latin typeface="+mn-lt"/>
                <a:ea typeface="+mn-ea"/>
                <a:cs typeface="+mn-cs"/>
              </a:defRPr>
            </a:pPr>
            <a:r>
              <a:rPr lang="en-US" sz="1500" baseline="0" dirty="0" smtClean="0"/>
              <a:t>Number of Divorced Male Residents</a:t>
            </a:r>
            <a:endParaRPr lang="en-SG" sz="1500" baseline="0" dirty="0"/>
          </a:p>
        </c:rich>
      </c:tx>
      <c:layout/>
      <c:overlay val="0"/>
      <c:spPr>
        <a:noFill/>
        <a:ln>
          <a:noFill/>
        </a:ln>
        <a:effectLst/>
      </c:spPr>
      <c:txPr>
        <a:bodyPr rot="0" spcFirstLastPara="1" vertOverflow="ellipsis" vert="horz" wrap="square" anchor="ctr" anchorCtr="1"/>
        <a:lstStyle/>
        <a:p>
          <a:pPr>
            <a:defRPr sz="15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DM!$B$1</c:f>
              <c:strCache>
                <c:ptCount val="1"/>
                <c:pt idx="0">
                  <c:v>Model</c:v>
                </c:pt>
              </c:strCache>
            </c:strRef>
          </c:tx>
          <c:spPr>
            <a:ln w="28575" cap="rnd">
              <a:solidFill>
                <a:srgbClr val="FFFF00"/>
              </a:solidFill>
              <a:round/>
            </a:ln>
            <a:effectLst/>
          </c:spPr>
          <c:marker>
            <c:symbol val="none"/>
          </c:marker>
          <c:cat>
            <c:numRef>
              <c:f>DM!$A$2:$A$30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DM!$B$2:$B$30</c:f>
              <c:numCache>
                <c:formatCode>General</c:formatCode>
                <c:ptCount val="29"/>
                <c:pt idx="0">
                  <c:v>10100</c:v>
                </c:pt>
                <c:pt idx="1">
                  <c:v>13407</c:v>
                </c:pt>
                <c:pt idx="2">
                  <c:v>16646</c:v>
                </c:pt>
                <c:pt idx="3">
                  <c:v>19909</c:v>
                </c:pt>
                <c:pt idx="4">
                  <c:v>23014</c:v>
                </c:pt>
                <c:pt idx="5">
                  <c:v>25997</c:v>
                </c:pt>
                <c:pt idx="6">
                  <c:v>28953</c:v>
                </c:pt>
                <c:pt idx="7">
                  <c:v>31904</c:v>
                </c:pt>
                <c:pt idx="8">
                  <c:v>34753</c:v>
                </c:pt>
                <c:pt idx="9">
                  <c:v>37742</c:v>
                </c:pt>
                <c:pt idx="10">
                  <c:v>40697</c:v>
                </c:pt>
                <c:pt idx="11">
                  <c:v>43559</c:v>
                </c:pt>
                <c:pt idx="12">
                  <c:v>46385</c:v>
                </c:pt>
                <c:pt idx="13">
                  <c:v>49368</c:v>
                </c:pt>
                <c:pt idx="14">
                  <c:v>52262</c:v>
                </c:pt>
                <c:pt idx="15">
                  <c:v>54964</c:v>
                </c:pt>
                <c:pt idx="16">
                  <c:v>57835</c:v>
                </c:pt>
                <c:pt idx="17">
                  <c:v>60662</c:v>
                </c:pt>
                <c:pt idx="18">
                  <c:v>63543</c:v>
                </c:pt>
                <c:pt idx="19">
                  <c:v>66335</c:v>
                </c:pt>
                <c:pt idx="20">
                  <c:v>69098</c:v>
                </c:pt>
                <c:pt idx="21">
                  <c:v>72081</c:v>
                </c:pt>
                <c:pt idx="22">
                  <c:v>75011</c:v>
                </c:pt>
                <c:pt idx="23">
                  <c:v>78145</c:v>
                </c:pt>
                <c:pt idx="24">
                  <c:v>81053</c:v>
                </c:pt>
                <c:pt idx="25">
                  <c:v>84056</c:v>
                </c:pt>
                <c:pt idx="26">
                  <c:v>87013</c:v>
                </c:pt>
                <c:pt idx="27">
                  <c:v>89969</c:v>
                </c:pt>
                <c:pt idx="28">
                  <c:v>93047</c:v>
                </c:pt>
              </c:numCache>
            </c:numRef>
          </c:val>
          <c:smooth val="0"/>
          <c:extLst>
            <c:ext xmlns:c16="http://schemas.microsoft.com/office/drawing/2014/chart" uri="{C3380CC4-5D6E-409C-BE32-E72D297353CC}">
              <c16:uniqueId val="{00000000-6182-4EF0-A5B6-D80E8BF23305}"/>
            </c:ext>
          </c:extLst>
        </c:ser>
        <c:ser>
          <c:idx val="1"/>
          <c:order val="1"/>
          <c:tx>
            <c:strRef>
              <c:f>DM!$C$1</c:f>
              <c:strCache>
                <c:ptCount val="1"/>
                <c:pt idx="0">
                  <c:v>Real</c:v>
                </c:pt>
              </c:strCache>
            </c:strRef>
          </c:tx>
          <c:spPr>
            <a:ln w="28575" cap="rnd">
              <a:solidFill>
                <a:srgbClr val="FF0000"/>
              </a:solidFill>
              <a:round/>
            </a:ln>
            <a:effectLst/>
          </c:spPr>
          <c:marker>
            <c:symbol val="none"/>
          </c:marker>
          <c:cat>
            <c:numRef>
              <c:f>DM!$A$2:$A$30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DM!$C$2:$C$30</c:f>
              <c:numCache>
                <c:formatCode>General</c:formatCode>
                <c:ptCount val="29"/>
                <c:pt idx="0">
                  <c:v>10100</c:v>
                </c:pt>
                <c:pt idx="1">
                  <c:v>11100</c:v>
                </c:pt>
                <c:pt idx="2">
                  <c:v>10900</c:v>
                </c:pt>
                <c:pt idx="3">
                  <c:v>10800</c:v>
                </c:pt>
                <c:pt idx="4">
                  <c:v>11400</c:v>
                </c:pt>
                <c:pt idx="5">
                  <c:v>12700</c:v>
                </c:pt>
                <c:pt idx="6">
                  <c:v>14500</c:v>
                </c:pt>
                <c:pt idx="7">
                  <c:v>13400</c:v>
                </c:pt>
                <c:pt idx="8">
                  <c:v>12900</c:v>
                </c:pt>
                <c:pt idx="9">
                  <c:v>16100</c:v>
                </c:pt>
                <c:pt idx="10">
                  <c:v>22800</c:v>
                </c:pt>
                <c:pt idx="11">
                  <c:v>19500</c:v>
                </c:pt>
                <c:pt idx="12">
                  <c:v>20000</c:v>
                </c:pt>
                <c:pt idx="13">
                  <c:v>21200</c:v>
                </c:pt>
                <c:pt idx="14">
                  <c:v>21000</c:v>
                </c:pt>
                <c:pt idx="15">
                  <c:v>28500</c:v>
                </c:pt>
                <c:pt idx="16">
                  <c:v>28600</c:v>
                </c:pt>
                <c:pt idx="17">
                  <c:v>29800</c:v>
                </c:pt>
                <c:pt idx="18">
                  <c:v>29200</c:v>
                </c:pt>
                <c:pt idx="19">
                  <c:v>32400</c:v>
                </c:pt>
                <c:pt idx="20">
                  <c:v>37200</c:v>
                </c:pt>
                <c:pt idx="21">
                  <c:v>34600</c:v>
                </c:pt>
                <c:pt idx="22">
                  <c:v>37400</c:v>
                </c:pt>
                <c:pt idx="23">
                  <c:v>37000</c:v>
                </c:pt>
                <c:pt idx="24">
                  <c:v>37300</c:v>
                </c:pt>
                <c:pt idx="25">
                  <c:v>42800</c:v>
                </c:pt>
                <c:pt idx="26">
                  <c:v>44100</c:v>
                </c:pt>
                <c:pt idx="27">
                  <c:v>40900</c:v>
                </c:pt>
                <c:pt idx="28">
                  <c:v>44100</c:v>
                </c:pt>
              </c:numCache>
            </c:numRef>
          </c:val>
          <c:smooth val="0"/>
          <c:extLst>
            <c:ext xmlns:c16="http://schemas.microsoft.com/office/drawing/2014/chart" uri="{C3380CC4-5D6E-409C-BE32-E72D297353CC}">
              <c16:uniqueId val="{00000001-6182-4EF0-A5B6-D80E8BF23305}"/>
            </c:ext>
          </c:extLst>
        </c:ser>
        <c:dLbls>
          <c:showLegendKey val="0"/>
          <c:showVal val="0"/>
          <c:showCatName val="0"/>
          <c:showSerName val="0"/>
          <c:showPercent val="0"/>
          <c:showBubbleSize val="0"/>
        </c:dLbls>
        <c:smooth val="0"/>
        <c:axId val="1665816816"/>
        <c:axId val="1665815152"/>
      </c:lineChart>
      <c:catAx>
        <c:axId val="1665816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665815152"/>
        <c:crosses val="autoZero"/>
        <c:auto val="1"/>
        <c:lblAlgn val="ctr"/>
        <c:lblOffset val="100"/>
        <c:noMultiLvlLbl val="0"/>
      </c:catAx>
      <c:valAx>
        <c:axId val="1665815152"/>
        <c:scaling>
          <c:orientation val="minMax"/>
        </c:scaling>
        <c:delete val="0"/>
        <c:axPos val="l"/>
        <c:majorGridlines>
          <c:spPr>
            <a:ln w="9525" cap="flat" cmpd="sng" algn="ctr">
              <a:solidFill>
                <a:schemeClr val="tx1">
                  <a:alpha val="11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66581681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smtClean="0"/>
              <a:t>Total</a:t>
            </a:r>
            <a:r>
              <a:rPr lang="en-US" baseline="0" dirty="0" smtClean="0"/>
              <a:t> number of Widowed Male Residents</a:t>
            </a:r>
            <a:endParaRPr lang="en-SG"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WM!$B$1</c:f>
              <c:strCache>
                <c:ptCount val="1"/>
                <c:pt idx="0">
                  <c:v>Model</c:v>
                </c:pt>
              </c:strCache>
            </c:strRef>
          </c:tx>
          <c:spPr>
            <a:ln w="28575" cap="rnd">
              <a:solidFill>
                <a:srgbClr val="FFFF00"/>
              </a:solidFill>
              <a:round/>
            </a:ln>
            <a:effectLst/>
          </c:spPr>
          <c:marker>
            <c:symbol val="none"/>
          </c:marker>
          <c:cat>
            <c:numRef>
              <c:f>WM!$A$2:$A$30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WM!$B$2:$B$30</c:f>
              <c:numCache>
                <c:formatCode>General</c:formatCode>
                <c:ptCount val="29"/>
                <c:pt idx="0">
                  <c:v>25700</c:v>
                </c:pt>
                <c:pt idx="1">
                  <c:v>26375</c:v>
                </c:pt>
                <c:pt idx="2">
                  <c:v>26852</c:v>
                </c:pt>
                <c:pt idx="3">
                  <c:v>27285</c:v>
                </c:pt>
                <c:pt idx="4">
                  <c:v>27639</c:v>
                </c:pt>
                <c:pt idx="5">
                  <c:v>28082</c:v>
                </c:pt>
                <c:pt idx="6">
                  <c:v>28477</c:v>
                </c:pt>
                <c:pt idx="7">
                  <c:v>28671</c:v>
                </c:pt>
                <c:pt idx="8">
                  <c:v>28772</c:v>
                </c:pt>
                <c:pt idx="9">
                  <c:v>28911</c:v>
                </c:pt>
                <c:pt idx="10">
                  <c:v>28961</c:v>
                </c:pt>
                <c:pt idx="11">
                  <c:v>29016</c:v>
                </c:pt>
                <c:pt idx="12">
                  <c:v>29101</c:v>
                </c:pt>
                <c:pt idx="13">
                  <c:v>29221</c:v>
                </c:pt>
                <c:pt idx="14">
                  <c:v>29418</c:v>
                </c:pt>
                <c:pt idx="15">
                  <c:v>29473</c:v>
                </c:pt>
                <c:pt idx="16">
                  <c:v>29662</c:v>
                </c:pt>
                <c:pt idx="17">
                  <c:v>29904</c:v>
                </c:pt>
                <c:pt idx="18">
                  <c:v>30080</c:v>
                </c:pt>
                <c:pt idx="19">
                  <c:v>30364</c:v>
                </c:pt>
                <c:pt idx="20">
                  <c:v>30666</c:v>
                </c:pt>
                <c:pt idx="21">
                  <c:v>31074</c:v>
                </c:pt>
                <c:pt idx="22">
                  <c:v>31532</c:v>
                </c:pt>
                <c:pt idx="23">
                  <c:v>32072</c:v>
                </c:pt>
                <c:pt idx="24">
                  <c:v>32758</c:v>
                </c:pt>
                <c:pt idx="25">
                  <c:v>33969</c:v>
                </c:pt>
                <c:pt idx="26">
                  <c:v>35757</c:v>
                </c:pt>
                <c:pt idx="27">
                  <c:v>38737</c:v>
                </c:pt>
                <c:pt idx="28">
                  <c:v>42323</c:v>
                </c:pt>
              </c:numCache>
            </c:numRef>
          </c:val>
          <c:smooth val="0"/>
          <c:extLst>
            <c:ext xmlns:c16="http://schemas.microsoft.com/office/drawing/2014/chart" uri="{C3380CC4-5D6E-409C-BE32-E72D297353CC}">
              <c16:uniqueId val="{00000000-6C4B-4435-8375-C0EA208D4166}"/>
            </c:ext>
          </c:extLst>
        </c:ser>
        <c:ser>
          <c:idx val="1"/>
          <c:order val="1"/>
          <c:tx>
            <c:strRef>
              <c:f>WM!$C$1</c:f>
              <c:strCache>
                <c:ptCount val="1"/>
                <c:pt idx="0">
                  <c:v>Real</c:v>
                </c:pt>
              </c:strCache>
            </c:strRef>
          </c:tx>
          <c:spPr>
            <a:ln w="28575" cap="rnd">
              <a:solidFill>
                <a:srgbClr val="FF0000"/>
              </a:solidFill>
              <a:round/>
            </a:ln>
            <a:effectLst/>
          </c:spPr>
          <c:marker>
            <c:symbol val="none"/>
          </c:marker>
          <c:cat>
            <c:numRef>
              <c:f>WM!$A$2:$A$30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WM!$C$2:$C$30</c:f>
              <c:numCache>
                <c:formatCode>General</c:formatCode>
                <c:ptCount val="29"/>
                <c:pt idx="0">
                  <c:v>26000</c:v>
                </c:pt>
                <c:pt idx="1">
                  <c:v>20200</c:v>
                </c:pt>
                <c:pt idx="2">
                  <c:v>22400</c:v>
                </c:pt>
                <c:pt idx="3">
                  <c:v>20700</c:v>
                </c:pt>
                <c:pt idx="4">
                  <c:v>21700</c:v>
                </c:pt>
                <c:pt idx="5">
                  <c:v>19900</c:v>
                </c:pt>
                <c:pt idx="6">
                  <c:v>23900</c:v>
                </c:pt>
                <c:pt idx="7">
                  <c:v>20900</c:v>
                </c:pt>
                <c:pt idx="8">
                  <c:v>22600</c:v>
                </c:pt>
                <c:pt idx="9">
                  <c:v>24600</c:v>
                </c:pt>
                <c:pt idx="10">
                  <c:v>22600</c:v>
                </c:pt>
                <c:pt idx="11">
                  <c:v>23200</c:v>
                </c:pt>
                <c:pt idx="12">
                  <c:v>23500</c:v>
                </c:pt>
                <c:pt idx="13">
                  <c:v>24500</c:v>
                </c:pt>
                <c:pt idx="14">
                  <c:v>22500</c:v>
                </c:pt>
                <c:pt idx="15">
                  <c:v>21100</c:v>
                </c:pt>
                <c:pt idx="16">
                  <c:v>24200</c:v>
                </c:pt>
                <c:pt idx="17">
                  <c:v>26500</c:v>
                </c:pt>
                <c:pt idx="18">
                  <c:v>22600</c:v>
                </c:pt>
                <c:pt idx="19">
                  <c:v>26800</c:v>
                </c:pt>
                <c:pt idx="20">
                  <c:v>24800</c:v>
                </c:pt>
                <c:pt idx="21">
                  <c:v>25700</c:v>
                </c:pt>
                <c:pt idx="22">
                  <c:v>25600</c:v>
                </c:pt>
                <c:pt idx="23">
                  <c:v>25700</c:v>
                </c:pt>
                <c:pt idx="24">
                  <c:v>27300</c:v>
                </c:pt>
                <c:pt idx="25">
                  <c:v>29000</c:v>
                </c:pt>
                <c:pt idx="26">
                  <c:v>29900</c:v>
                </c:pt>
                <c:pt idx="27">
                  <c:v>31800</c:v>
                </c:pt>
                <c:pt idx="28">
                  <c:v>30600</c:v>
                </c:pt>
              </c:numCache>
            </c:numRef>
          </c:val>
          <c:smooth val="0"/>
          <c:extLst>
            <c:ext xmlns:c16="http://schemas.microsoft.com/office/drawing/2014/chart" uri="{C3380CC4-5D6E-409C-BE32-E72D297353CC}">
              <c16:uniqueId val="{00000001-6C4B-4435-8375-C0EA208D4166}"/>
            </c:ext>
          </c:extLst>
        </c:ser>
        <c:dLbls>
          <c:showLegendKey val="0"/>
          <c:showVal val="0"/>
          <c:showCatName val="0"/>
          <c:showSerName val="0"/>
          <c:showPercent val="0"/>
          <c:showBubbleSize val="0"/>
        </c:dLbls>
        <c:smooth val="0"/>
        <c:axId val="1970990944"/>
        <c:axId val="1970991776"/>
      </c:lineChart>
      <c:catAx>
        <c:axId val="1970990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70991776"/>
        <c:crosses val="autoZero"/>
        <c:auto val="1"/>
        <c:lblAlgn val="ctr"/>
        <c:lblOffset val="100"/>
        <c:noMultiLvlLbl val="0"/>
      </c:catAx>
      <c:valAx>
        <c:axId val="1970991776"/>
        <c:scaling>
          <c:orientation val="minMax"/>
        </c:scaling>
        <c:delete val="0"/>
        <c:axPos val="l"/>
        <c:majorGridlines>
          <c:spPr>
            <a:ln w="9525" cap="flat" cmpd="sng" algn="ctr">
              <a:solidFill>
                <a:schemeClr val="tx1">
                  <a:alpha val="17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7099094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SG" sz="1420" baseline="0" dirty="0" smtClean="0"/>
              <a:t>Single Females</a:t>
            </a:r>
            <a:endParaRPr lang="en-SG" sz="1420" baseline="0"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SF!$B$1</c:f>
              <c:strCache>
                <c:ptCount val="1"/>
                <c:pt idx="0">
                  <c:v>Model</c:v>
                </c:pt>
              </c:strCache>
            </c:strRef>
          </c:tx>
          <c:spPr>
            <a:ln w="28575" cap="rnd">
              <a:solidFill>
                <a:srgbClr val="FFFF00"/>
              </a:solidFill>
              <a:round/>
            </a:ln>
            <a:effectLst/>
          </c:spPr>
          <c:marker>
            <c:symbol val="none"/>
          </c:marker>
          <c:cat>
            <c:numRef>
              <c:f>SF!$A$2:$A$30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SF!$B$2:$B$30</c:f>
              <c:numCache>
                <c:formatCode>General</c:formatCode>
                <c:ptCount val="29"/>
                <c:pt idx="0">
                  <c:v>219101</c:v>
                </c:pt>
                <c:pt idx="1">
                  <c:v>215345</c:v>
                </c:pt>
                <c:pt idx="2">
                  <c:v>212391</c:v>
                </c:pt>
                <c:pt idx="3">
                  <c:v>210597</c:v>
                </c:pt>
                <c:pt idx="4">
                  <c:v>209034</c:v>
                </c:pt>
                <c:pt idx="5">
                  <c:v>209081</c:v>
                </c:pt>
                <c:pt idx="6">
                  <c:v>208648</c:v>
                </c:pt>
                <c:pt idx="7">
                  <c:v>208975</c:v>
                </c:pt>
                <c:pt idx="8">
                  <c:v>208441</c:v>
                </c:pt>
                <c:pt idx="9">
                  <c:v>209044</c:v>
                </c:pt>
                <c:pt idx="10">
                  <c:v>209339</c:v>
                </c:pt>
                <c:pt idx="11">
                  <c:v>209537</c:v>
                </c:pt>
                <c:pt idx="12">
                  <c:v>211567</c:v>
                </c:pt>
                <c:pt idx="13">
                  <c:v>212471</c:v>
                </c:pt>
                <c:pt idx="14">
                  <c:v>213320</c:v>
                </c:pt>
                <c:pt idx="15">
                  <c:v>216065</c:v>
                </c:pt>
                <c:pt idx="16">
                  <c:v>216445</c:v>
                </c:pt>
                <c:pt idx="17">
                  <c:v>217121</c:v>
                </c:pt>
                <c:pt idx="18">
                  <c:v>219448</c:v>
                </c:pt>
                <c:pt idx="19">
                  <c:v>218318</c:v>
                </c:pt>
                <c:pt idx="20">
                  <c:v>219890</c:v>
                </c:pt>
                <c:pt idx="21">
                  <c:v>229684</c:v>
                </c:pt>
                <c:pt idx="22">
                  <c:v>244722</c:v>
                </c:pt>
                <c:pt idx="23">
                  <c:v>265973</c:v>
                </c:pt>
                <c:pt idx="24">
                  <c:v>293845</c:v>
                </c:pt>
                <c:pt idx="25">
                  <c:v>325947</c:v>
                </c:pt>
                <c:pt idx="26">
                  <c:v>357266</c:v>
                </c:pt>
                <c:pt idx="27">
                  <c:v>381701</c:v>
                </c:pt>
                <c:pt idx="28">
                  <c:v>399147</c:v>
                </c:pt>
              </c:numCache>
            </c:numRef>
          </c:val>
          <c:smooth val="0"/>
          <c:extLst>
            <c:ext xmlns:c16="http://schemas.microsoft.com/office/drawing/2014/chart" uri="{C3380CC4-5D6E-409C-BE32-E72D297353CC}">
              <c16:uniqueId val="{00000000-AF72-4AE1-8434-AAA9CBC06CAB}"/>
            </c:ext>
          </c:extLst>
        </c:ser>
        <c:ser>
          <c:idx val="1"/>
          <c:order val="1"/>
          <c:tx>
            <c:strRef>
              <c:f>SF!$C$1</c:f>
              <c:strCache>
                <c:ptCount val="1"/>
                <c:pt idx="0">
                  <c:v>Real</c:v>
                </c:pt>
              </c:strCache>
            </c:strRef>
          </c:tx>
          <c:spPr>
            <a:ln w="28575" cap="rnd">
              <a:solidFill>
                <a:srgbClr val="FF0000"/>
              </a:solidFill>
              <a:round/>
            </a:ln>
            <a:effectLst/>
          </c:spPr>
          <c:marker>
            <c:symbol val="none"/>
          </c:marker>
          <c:cat>
            <c:numRef>
              <c:f>SF!$A$2:$A$30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SF!$C$2:$C$30</c:f>
              <c:numCache>
                <c:formatCode>General</c:formatCode>
                <c:ptCount val="29"/>
                <c:pt idx="0">
                  <c:v>219100</c:v>
                </c:pt>
                <c:pt idx="1">
                  <c:v>224800</c:v>
                </c:pt>
                <c:pt idx="2">
                  <c:v>234500</c:v>
                </c:pt>
                <c:pt idx="3">
                  <c:v>233500</c:v>
                </c:pt>
                <c:pt idx="4">
                  <c:v>236000</c:v>
                </c:pt>
                <c:pt idx="5">
                  <c:v>233600</c:v>
                </c:pt>
                <c:pt idx="6">
                  <c:v>238500</c:v>
                </c:pt>
                <c:pt idx="7">
                  <c:v>244600</c:v>
                </c:pt>
                <c:pt idx="8">
                  <c:v>248300</c:v>
                </c:pt>
                <c:pt idx="9">
                  <c:v>248800</c:v>
                </c:pt>
                <c:pt idx="10">
                  <c:v>246900</c:v>
                </c:pt>
                <c:pt idx="11">
                  <c:v>253000</c:v>
                </c:pt>
                <c:pt idx="12">
                  <c:v>266800</c:v>
                </c:pt>
                <c:pt idx="13">
                  <c:v>278000</c:v>
                </c:pt>
                <c:pt idx="14">
                  <c:v>277000</c:v>
                </c:pt>
                <c:pt idx="15">
                  <c:v>282500</c:v>
                </c:pt>
                <c:pt idx="16">
                  <c:v>298700</c:v>
                </c:pt>
                <c:pt idx="17">
                  <c:v>302000</c:v>
                </c:pt>
                <c:pt idx="18">
                  <c:v>302100</c:v>
                </c:pt>
                <c:pt idx="19">
                  <c:v>320600</c:v>
                </c:pt>
                <c:pt idx="20">
                  <c:v>343100</c:v>
                </c:pt>
                <c:pt idx="21">
                  <c:v>351100</c:v>
                </c:pt>
                <c:pt idx="22">
                  <c:v>355500</c:v>
                </c:pt>
                <c:pt idx="23">
                  <c:v>367300</c:v>
                </c:pt>
                <c:pt idx="24">
                  <c:v>389400</c:v>
                </c:pt>
                <c:pt idx="25">
                  <c:v>378700</c:v>
                </c:pt>
                <c:pt idx="26">
                  <c:v>389200</c:v>
                </c:pt>
                <c:pt idx="27">
                  <c:v>385500</c:v>
                </c:pt>
                <c:pt idx="28">
                  <c:v>394400</c:v>
                </c:pt>
              </c:numCache>
            </c:numRef>
          </c:val>
          <c:smooth val="0"/>
          <c:extLst>
            <c:ext xmlns:c16="http://schemas.microsoft.com/office/drawing/2014/chart" uri="{C3380CC4-5D6E-409C-BE32-E72D297353CC}">
              <c16:uniqueId val="{00000001-AF72-4AE1-8434-AAA9CBC06CAB}"/>
            </c:ext>
          </c:extLst>
        </c:ser>
        <c:dLbls>
          <c:showLegendKey val="0"/>
          <c:showVal val="0"/>
          <c:showCatName val="0"/>
          <c:showSerName val="0"/>
          <c:showPercent val="0"/>
          <c:showBubbleSize val="0"/>
        </c:dLbls>
        <c:smooth val="0"/>
        <c:axId val="173848944"/>
        <c:axId val="1902291648"/>
      </c:lineChart>
      <c:catAx>
        <c:axId val="173848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02291648"/>
        <c:crosses val="autoZero"/>
        <c:auto val="1"/>
        <c:lblAlgn val="ctr"/>
        <c:lblOffset val="100"/>
        <c:noMultiLvlLbl val="0"/>
      </c:catAx>
      <c:valAx>
        <c:axId val="1902291648"/>
        <c:scaling>
          <c:orientation val="minMax"/>
        </c:scaling>
        <c:delete val="0"/>
        <c:axPos val="l"/>
        <c:majorGridlines>
          <c:spPr>
            <a:ln w="9525" cap="flat" cmpd="sng" algn="ctr">
              <a:solidFill>
                <a:srgbClr val="FF0000">
                  <a:alpha val="0"/>
                </a:srgb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7384894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SG" dirty="0" smtClean="0"/>
              <a:t>Married Females</a:t>
            </a:r>
            <a:endParaRPr lang="en-SG"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MF!$B$1</c:f>
              <c:strCache>
                <c:ptCount val="1"/>
                <c:pt idx="0">
                  <c:v>Model</c:v>
                </c:pt>
              </c:strCache>
            </c:strRef>
          </c:tx>
          <c:spPr>
            <a:ln w="28575" cap="rnd">
              <a:solidFill>
                <a:srgbClr val="FFFF00"/>
              </a:solidFill>
              <a:round/>
            </a:ln>
            <a:effectLst/>
          </c:spPr>
          <c:marker>
            <c:symbol val="none"/>
          </c:marker>
          <c:cat>
            <c:numRef>
              <c:f>MF!$A$2:$A$30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MF!$B$2:$B$30</c:f>
              <c:numCache>
                <c:formatCode>General</c:formatCode>
                <c:ptCount val="29"/>
                <c:pt idx="0">
                  <c:v>599822</c:v>
                </c:pt>
                <c:pt idx="1">
                  <c:v>621839</c:v>
                </c:pt>
                <c:pt idx="2">
                  <c:v>643804</c:v>
                </c:pt>
                <c:pt idx="3">
                  <c:v>666282</c:v>
                </c:pt>
                <c:pt idx="4">
                  <c:v>688761</c:v>
                </c:pt>
                <c:pt idx="5">
                  <c:v>710662</c:v>
                </c:pt>
                <c:pt idx="6">
                  <c:v>732105</c:v>
                </c:pt>
                <c:pt idx="7">
                  <c:v>753506</c:v>
                </c:pt>
                <c:pt idx="8">
                  <c:v>774390</c:v>
                </c:pt>
                <c:pt idx="9">
                  <c:v>795094</c:v>
                </c:pt>
                <c:pt idx="10">
                  <c:v>814898</c:v>
                </c:pt>
                <c:pt idx="11">
                  <c:v>834656</c:v>
                </c:pt>
                <c:pt idx="12">
                  <c:v>853566</c:v>
                </c:pt>
                <c:pt idx="13">
                  <c:v>872078</c:v>
                </c:pt>
                <c:pt idx="14">
                  <c:v>890439</c:v>
                </c:pt>
                <c:pt idx="15">
                  <c:v>909386</c:v>
                </c:pt>
                <c:pt idx="16">
                  <c:v>929040</c:v>
                </c:pt>
                <c:pt idx="17">
                  <c:v>948535</c:v>
                </c:pt>
                <c:pt idx="18">
                  <c:v>968954</c:v>
                </c:pt>
                <c:pt idx="19">
                  <c:v>990267</c:v>
                </c:pt>
                <c:pt idx="20">
                  <c:v>1012535</c:v>
                </c:pt>
                <c:pt idx="21">
                  <c:v>1035118</c:v>
                </c:pt>
                <c:pt idx="22">
                  <c:v>1058864</c:v>
                </c:pt>
                <c:pt idx="23">
                  <c:v>1082463</c:v>
                </c:pt>
                <c:pt idx="24">
                  <c:v>1105839</c:v>
                </c:pt>
                <c:pt idx="25">
                  <c:v>1128520</c:v>
                </c:pt>
                <c:pt idx="26">
                  <c:v>1150005</c:v>
                </c:pt>
                <c:pt idx="27">
                  <c:v>1160251</c:v>
                </c:pt>
                <c:pt idx="28">
                  <c:v>1165219</c:v>
                </c:pt>
              </c:numCache>
            </c:numRef>
          </c:val>
          <c:smooth val="0"/>
          <c:extLst>
            <c:ext xmlns:c16="http://schemas.microsoft.com/office/drawing/2014/chart" uri="{C3380CC4-5D6E-409C-BE32-E72D297353CC}">
              <c16:uniqueId val="{00000000-0E32-49D2-B2E3-4D8AF04011F8}"/>
            </c:ext>
          </c:extLst>
        </c:ser>
        <c:ser>
          <c:idx val="1"/>
          <c:order val="1"/>
          <c:tx>
            <c:strRef>
              <c:f>MF!$C$1</c:f>
              <c:strCache>
                <c:ptCount val="1"/>
                <c:pt idx="0">
                  <c:v>Real</c:v>
                </c:pt>
              </c:strCache>
            </c:strRef>
          </c:tx>
          <c:spPr>
            <a:ln w="28575" cap="rnd">
              <a:solidFill>
                <a:srgbClr val="FF0000"/>
              </a:solidFill>
              <a:round/>
            </a:ln>
            <a:effectLst/>
          </c:spPr>
          <c:marker>
            <c:symbol val="none"/>
          </c:marker>
          <c:cat>
            <c:numRef>
              <c:f>MF!$A$2:$A$30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MF!$C$2:$C$30</c:f>
              <c:numCache>
                <c:formatCode>General</c:formatCode>
                <c:ptCount val="29"/>
                <c:pt idx="0">
                  <c:v>588200</c:v>
                </c:pt>
                <c:pt idx="1">
                  <c:v>617000</c:v>
                </c:pt>
                <c:pt idx="2">
                  <c:v>634500</c:v>
                </c:pt>
                <c:pt idx="3">
                  <c:v>651200</c:v>
                </c:pt>
                <c:pt idx="4">
                  <c:v>674100</c:v>
                </c:pt>
                <c:pt idx="5">
                  <c:v>690600</c:v>
                </c:pt>
                <c:pt idx="6">
                  <c:v>709900</c:v>
                </c:pt>
                <c:pt idx="7">
                  <c:v>739500</c:v>
                </c:pt>
                <c:pt idx="8">
                  <c:v>757800</c:v>
                </c:pt>
                <c:pt idx="9">
                  <c:v>759700</c:v>
                </c:pt>
                <c:pt idx="10">
                  <c:v>771400</c:v>
                </c:pt>
                <c:pt idx="11">
                  <c:v>781900</c:v>
                </c:pt>
                <c:pt idx="12">
                  <c:v>807600</c:v>
                </c:pt>
                <c:pt idx="13">
                  <c:v>824100</c:v>
                </c:pt>
                <c:pt idx="14">
                  <c:v>831700</c:v>
                </c:pt>
                <c:pt idx="15">
                  <c:v>852700</c:v>
                </c:pt>
                <c:pt idx="16">
                  <c:v>873900</c:v>
                </c:pt>
                <c:pt idx="17">
                  <c:v>891900</c:v>
                </c:pt>
                <c:pt idx="18">
                  <c:v>887000</c:v>
                </c:pt>
                <c:pt idx="19">
                  <c:v>917700</c:v>
                </c:pt>
                <c:pt idx="20">
                  <c:v>915700</c:v>
                </c:pt>
                <c:pt idx="21">
                  <c:v>931400</c:v>
                </c:pt>
                <c:pt idx="22">
                  <c:v>946500</c:v>
                </c:pt>
                <c:pt idx="23">
                  <c:v>948200</c:v>
                </c:pt>
                <c:pt idx="24">
                  <c:v>959000</c:v>
                </c:pt>
                <c:pt idx="25">
                  <c:v>960700</c:v>
                </c:pt>
                <c:pt idx="26">
                  <c:v>980600</c:v>
                </c:pt>
                <c:pt idx="27">
                  <c:v>992000</c:v>
                </c:pt>
                <c:pt idx="28">
                  <c:v>1001500</c:v>
                </c:pt>
              </c:numCache>
            </c:numRef>
          </c:val>
          <c:smooth val="0"/>
          <c:extLst>
            <c:ext xmlns:c16="http://schemas.microsoft.com/office/drawing/2014/chart" uri="{C3380CC4-5D6E-409C-BE32-E72D297353CC}">
              <c16:uniqueId val="{00000001-0E32-49D2-B2E3-4D8AF04011F8}"/>
            </c:ext>
          </c:extLst>
        </c:ser>
        <c:dLbls>
          <c:showLegendKey val="0"/>
          <c:showVal val="0"/>
          <c:showCatName val="0"/>
          <c:showSerName val="0"/>
          <c:showPercent val="0"/>
          <c:showBubbleSize val="0"/>
        </c:dLbls>
        <c:smooth val="0"/>
        <c:axId val="1914636992"/>
        <c:axId val="1914635744"/>
      </c:lineChart>
      <c:catAx>
        <c:axId val="19146369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14635744"/>
        <c:crosses val="autoZero"/>
        <c:auto val="1"/>
        <c:lblAlgn val="ctr"/>
        <c:lblOffset val="100"/>
        <c:noMultiLvlLbl val="0"/>
      </c:catAx>
      <c:valAx>
        <c:axId val="1914635744"/>
        <c:scaling>
          <c:orientation val="minMax"/>
        </c:scaling>
        <c:delete val="0"/>
        <c:axPos val="l"/>
        <c:majorGridlines>
          <c:spPr>
            <a:ln w="9525" cap="flat" cmpd="sng" algn="ctr">
              <a:solidFill>
                <a:srgbClr val="FF0000">
                  <a:alpha val="0"/>
                </a:srgb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14636992"/>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smtClean="0"/>
              <a:t>Total</a:t>
            </a:r>
            <a:r>
              <a:rPr lang="en-US" baseline="0" dirty="0" smtClean="0"/>
              <a:t> males of Divorced Female Residents</a:t>
            </a:r>
            <a:endParaRPr lang="en-SG"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DF!$B$1</c:f>
              <c:strCache>
                <c:ptCount val="1"/>
                <c:pt idx="0">
                  <c:v>Model</c:v>
                </c:pt>
              </c:strCache>
            </c:strRef>
          </c:tx>
          <c:spPr>
            <a:ln w="28575" cap="rnd">
              <a:solidFill>
                <a:srgbClr val="FFFF00"/>
              </a:solidFill>
              <a:round/>
            </a:ln>
            <a:effectLst/>
          </c:spPr>
          <c:marker>
            <c:symbol val="none"/>
          </c:marker>
          <c:cat>
            <c:numRef>
              <c:f>DF!$A$2:$A$30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DF!$B$2:$B$30</c:f>
              <c:numCache>
                <c:formatCode>General</c:formatCode>
                <c:ptCount val="29"/>
                <c:pt idx="0">
                  <c:v>17700</c:v>
                </c:pt>
                <c:pt idx="1">
                  <c:v>20778</c:v>
                </c:pt>
                <c:pt idx="2">
                  <c:v>23871</c:v>
                </c:pt>
                <c:pt idx="3">
                  <c:v>27040</c:v>
                </c:pt>
                <c:pt idx="4">
                  <c:v>30231</c:v>
                </c:pt>
                <c:pt idx="5">
                  <c:v>33394</c:v>
                </c:pt>
                <c:pt idx="6">
                  <c:v>36024</c:v>
                </c:pt>
                <c:pt idx="7">
                  <c:v>38679</c:v>
                </c:pt>
                <c:pt idx="8">
                  <c:v>41254</c:v>
                </c:pt>
                <c:pt idx="9">
                  <c:v>44073</c:v>
                </c:pt>
                <c:pt idx="10">
                  <c:v>45196</c:v>
                </c:pt>
                <c:pt idx="11">
                  <c:v>46172</c:v>
                </c:pt>
                <c:pt idx="12">
                  <c:v>47682</c:v>
                </c:pt>
                <c:pt idx="13">
                  <c:v>47964</c:v>
                </c:pt>
                <c:pt idx="14">
                  <c:v>48816</c:v>
                </c:pt>
                <c:pt idx="15">
                  <c:v>48658</c:v>
                </c:pt>
                <c:pt idx="16">
                  <c:v>45326</c:v>
                </c:pt>
                <c:pt idx="17">
                  <c:v>39333</c:v>
                </c:pt>
                <c:pt idx="18">
                  <c:v>35416</c:v>
                </c:pt>
                <c:pt idx="19">
                  <c:v>29548</c:v>
                </c:pt>
                <c:pt idx="20">
                  <c:v>27025</c:v>
                </c:pt>
                <c:pt idx="21">
                  <c:v>22977</c:v>
                </c:pt>
                <c:pt idx="22">
                  <c:v>19598</c:v>
                </c:pt>
                <c:pt idx="23">
                  <c:v>15890</c:v>
                </c:pt>
                <c:pt idx="24">
                  <c:v>12344</c:v>
                </c:pt>
                <c:pt idx="25">
                  <c:v>10077</c:v>
                </c:pt>
                <c:pt idx="26">
                  <c:v>8871</c:v>
                </c:pt>
                <c:pt idx="27">
                  <c:v>8831</c:v>
                </c:pt>
                <c:pt idx="28">
                  <c:v>8887</c:v>
                </c:pt>
              </c:numCache>
            </c:numRef>
          </c:val>
          <c:smooth val="0"/>
          <c:extLst>
            <c:ext xmlns:c16="http://schemas.microsoft.com/office/drawing/2014/chart" uri="{C3380CC4-5D6E-409C-BE32-E72D297353CC}">
              <c16:uniqueId val="{00000000-CF59-4890-8D18-0F0466AB9848}"/>
            </c:ext>
          </c:extLst>
        </c:ser>
        <c:ser>
          <c:idx val="1"/>
          <c:order val="1"/>
          <c:tx>
            <c:strRef>
              <c:f>DF!$C$1</c:f>
              <c:strCache>
                <c:ptCount val="1"/>
                <c:pt idx="0">
                  <c:v>Real</c:v>
                </c:pt>
              </c:strCache>
            </c:strRef>
          </c:tx>
          <c:spPr>
            <a:ln w="28575" cap="rnd">
              <a:solidFill>
                <a:srgbClr val="FF0000"/>
              </a:solidFill>
              <a:round/>
            </a:ln>
            <a:effectLst/>
          </c:spPr>
          <c:marker>
            <c:symbol val="none"/>
          </c:marker>
          <c:cat>
            <c:numRef>
              <c:f>DF!$A$2:$A$30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DF!$C$2:$C$30</c:f>
              <c:numCache>
                <c:formatCode>General</c:formatCode>
                <c:ptCount val="29"/>
                <c:pt idx="0">
                  <c:v>17700</c:v>
                </c:pt>
                <c:pt idx="1">
                  <c:v>21100</c:v>
                </c:pt>
                <c:pt idx="2">
                  <c:v>22000</c:v>
                </c:pt>
                <c:pt idx="3">
                  <c:v>23700</c:v>
                </c:pt>
                <c:pt idx="4">
                  <c:v>23900</c:v>
                </c:pt>
                <c:pt idx="5">
                  <c:v>26200</c:v>
                </c:pt>
                <c:pt idx="6">
                  <c:v>27400</c:v>
                </c:pt>
                <c:pt idx="7">
                  <c:v>26300</c:v>
                </c:pt>
                <c:pt idx="8">
                  <c:v>25500</c:v>
                </c:pt>
                <c:pt idx="9">
                  <c:v>31100</c:v>
                </c:pt>
                <c:pt idx="10">
                  <c:v>38900</c:v>
                </c:pt>
                <c:pt idx="11">
                  <c:v>39000</c:v>
                </c:pt>
                <c:pt idx="12">
                  <c:v>38100</c:v>
                </c:pt>
                <c:pt idx="13">
                  <c:v>40600</c:v>
                </c:pt>
                <c:pt idx="14">
                  <c:v>45200</c:v>
                </c:pt>
                <c:pt idx="15">
                  <c:v>47800</c:v>
                </c:pt>
                <c:pt idx="16">
                  <c:v>53000</c:v>
                </c:pt>
                <c:pt idx="17">
                  <c:v>54000</c:v>
                </c:pt>
                <c:pt idx="18">
                  <c:v>60100</c:v>
                </c:pt>
                <c:pt idx="19">
                  <c:v>60800</c:v>
                </c:pt>
                <c:pt idx="20">
                  <c:v>66000</c:v>
                </c:pt>
                <c:pt idx="21">
                  <c:v>68400</c:v>
                </c:pt>
                <c:pt idx="22">
                  <c:v>71700</c:v>
                </c:pt>
                <c:pt idx="23">
                  <c:v>70200</c:v>
                </c:pt>
                <c:pt idx="24">
                  <c:v>73300</c:v>
                </c:pt>
                <c:pt idx="25">
                  <c:v>80900</c:v>
                </c:pt>
                <c:pt idx="26">
                  <c:v>75900</c:v>
                </c:pt>
                <c:pt idx="27">
                  <c:v>79000</c:v>
                </c:pt>
                <c:pt idx="28">
                  <c:v>87900</c:v>
                </c:pt>
              </c:numCache>
            </c:numRef>
          </c:val>
          <c:smooth val="0"/>
          <c:extLst>
            <c:ext xmlns:c16="http://schemas.microsoft.com/office/drawing/2014/chart" uri="{C3380CC4-5D6E-409C-BE32-E72D297353CC}">
              <c16:uniqueId val="{00000001-CF59-4890-8D18-0F0466AB9848}"/>
            </c:ext>
          </c:extLst>
        </c:ser>
        <c:dLbls>
          <c:showLegendKey val="0"/>
          <c:showVal val="0"/>
          <c:showCatName val="0"/>
          <c:showSerName val="0"/>
          <c:showPercent val="0"/>
          <c:showBubbleSize val="0"/>
        </c:dLbls>
        <c:smooth val="0"/>
        <c:axId val="1971509200"/>
        <c:axId val="1971509616"/>
      </c:lineChart>
      <c:catAx>
        <c:axId val="19715092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71509616"/>
        <c:crosses val="autoZero"/>
        <c:auto val="1"/>
        <c:lblAlgn val="ctr"/>
        <c:lblOffset val="100"/>
        <c:noMultiLvlLbl val="0"/>
      </c:catAx>
      <c:valAx>
        <c:axId val="1971509616"/>
        <c:scaling>
          <c:orientation val="minMax"/>
        </c:scaling>
        <c:delete val="0"/>
        <c:axPos val="l"/>
        <c:majorGridlines>
          <c:spPr>
            <a:ln w="9525" cap="flat" cmpd="sng" algn="ctr">
              <a:solidFill>
                <a:schemeClr val="tx1">
                  <a:alpha val="2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7150920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SG" dirty="0" smtClean="0"/>
              <a:t>Total Number</a:t>
            </a:r>
            <a:r>
              <a:rPr lang="en-SG" baseline="0" dirty="0" smtClean="0"/>
              <a:t> of Widowed Female Residents</a:t>
            </a:r>
            <a:endParaRPr lang="en-SG"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WF!$B$1</c:f>
              <c:strCache>
                <c:ptCount val="1"/>
                <c:pt idx="0">
                  <c:v>Model</c:v>
                </c:pt>
              </c:strCache>
            </c:strRef>
          </c:tx>
          <c:spPr>
            <a:ln w="28575" cap="rnd">
              <a:solidFill>
                <a:srgbClr val="FFFF00"/>
              </a:solidFill>
              <a:round/>
            </a:ln>
            <a:effectLst/>
          </c:spPr>
          <c:marker>
            <c:symbol val="none"/>
          </c:marker>
          <c:cat>
            <c:numRef>
              <c:f>WF!$A$2:$A$30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WF!$B$2:$B$30</c:f>
              <c:numCache>
                <c:formatCode>General</c:formatCode>
                <c:ptCount val="29"/>
                <c:pt idx="0">
                  <c:v>100900</c:v>
                </c:pt>
                <c:pt idx="1">
                  <c:v>103133</c:v>
                </c:pt>
                <c:pt idx="2">
                  <c:v>105140</c:v>
                </c:pt>
                <c:pt idx="3">
                  <c:v>106893</c:v>
                </c:pt>
                <c:pt idx="4">
                  <c:v>108632</c:v>
                </c:pt>
                <c:pt idx="5">
                  <c:v>110315</c:v>
                </c:pt>
                <c:pt idx="6">
                  <c:v>111835</c:v>
                </c:pt>
                <c:pt idx="7">
                  <c:v>113289</c:v>
                </c:pt>
                <c:pt idx="8">
                  <c:v>114628</c:v>
                </c:pt>
                <c:pt idx="9">
                  <c:v>115859</c:v>
                </c:pt>
                <c:pt idx="10">
                  <c:v>117047</c:v>
                </c:pt>
                <c:pt idx="11">
                  <c:v>118286</c:v>
                </c:pt>
                <c:pt idx="12">
                  <c:v>119299</c:v>
                </c:pt>
                <c:pt idx="13">
                  <c:v>120205</c:v>
                </c:pt>
                <c:pt idx="14">
                  <c:v>121124</c:v>
                </c:pt>
                <c:pt idx="15">
                  <c:v>121986</c:v>
                </c:pt>
                <c:pt idx="16">
                  <c:v>122243</c:v>
                </c:pt>
                <c:pt idx="17">
                  <c:v>121675</c:v>
                </c:pt>
                <c:pt idx="18">
                  <c:v>120603</c:v>
                </c:pt>
                <c:pt idx="19">
                  <c:v>117024</c:v>
                </c:pt>
                <c:pt idx="20">
                  <c:v>114704</c:v>
                </c:pt>
                <c:pt idx="21">
                  <c:v>109269</c:v>
                </c:pt>
                <c:pt idx="22">
                  <c:v>99860</c:v>
                </c:pt>
                <c:pt idx="23">
                  <c:v>86206</c:v>
                </c:pt>
                <c:pt idx="24">
                  <c:v>64810</c:v>
                </c:pt>
                <c:pt idx="25">
                  <c:v>37461</c:v>
                </c:pt>
                <c:pt idx="26">
                  <c:v>11959</c:v>
                </c:pt>
                <c:pt idx="27">
                  <c:v>0</c:v>
                </c:pt>
                <c:pt idx="28">
                  <c:v>0</c:v>
                </c:pt>
              </c:numCache>
            </c:numRef>
          </c:val>
          <c:smooth val="0"/>
          <c:extLst>
            <c:ext xmlns:c16="http://schemas.microsoft.com/office/drawing/2014/chart" uri="{C3380CC4-5D6E-409C-BE32-E72D297353CC}">
              <c16:uniqueId val="{00000000-0E98-43BC-BF00-9587004FF07A}"/>
            </c:ext>
          </c:extLst>
        </c:ser>
        <c:ser>
          <c:idx val="1"/>
          <c:order val="1"/>
          <c:tx>
            <c:strRef>
              <c:f>WF!$C$1</c:f>
              <c:strCache>
                <c:ptCount val="1"/>
                <c:pt idx="0">
                  <c:v>Real</c:v>
                </c:pt>
              </c:strCache>
            </c:strRef>
          </c:tx>
          <c:spPr>
            <a:ln w="28575" cap="rnd">
              <a:solidFill>
                <a:srgbClr val="FF0000"/>
              </a:solidFill>
              <a:round/>
            </a:ln>
            <a:effectLst/>
          </c:spPr>
          <c:marker>
            <c:symbol val="none"/>
          </c:marker>
          <c:cat>
            <c:numRef>
              <c:f>WF!$A$2:$A$30</c:f>
              <c:numCache>
                <c:formatCode>General</c:formatCode>
                <c:ptCount val="29"/>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numCache>
            </c:numRef>
          </c:cat>
          <c:val>
            <c:numRef>
              <c:f>WF!$C$2:$C$30</c:f>
              <c:numCache>
                <c:formatCode>General</c:formatCode>
                <c:ptCount val="29"/>
                <c:pt idx="0">
                  <c:v>101300</c:v>
                </c:pt>
                <c:pt idx="1">
                  <c:v>101100</c:v>
                </c:pt>
                <c:pt idx="2">
                  <c:v>105900</c:v>
                </c:pt>
                <c:pt idx="3">
                  <c:v>104200</c:v>
                </c:pt>
                <c:pt idx="4">
                  <c:v>111500</c:v>
                </c:pt>
                <c:pt idx="5">
                  <c:v>105800</c:v>
                </c:pt>
                <c:pt idx="6">
                  <c:v>112700</c:v>
                </c:pt>
                <c:pt idx="7">
                  <c:v>107400</c:v>
                </c:pt>
                <c:pt idx="8">
                  <c:v>111000</c:v>
                </c:pt>
                <c:pt idx="9">
                  <c:v>120600</c:v>
                </c:pt>
                <c:pt idx="10">
                  <c:v>106600</c:v>
                </c:pt>
                <c:pt idx="11">
                  <c:v>121900</c:v>
                </c:pt>
                <c:pt idx="12">
                  <c:v>119800</c:v>
                </c:pt>
                <c:pt idx="13">
                  <c:v>126200</c:v>
                </c:pt>
                <c:pt idx="14">
                  <c:v>128100</c:v>
                </c:pt>
                <c:pt idx="15">
                  <c:v>114300</c:v>
                </c:pt>
                <c:pt idx="16">
                  <c:v>126200</c:v>
                </c:pt>
                <c:pt idx="17">
                  <c:v>129100</c:v>
                </c:pt>
                <c:pt idx="18">
                  <c:v>124200</c:v>
                </c:pt>
                <c:pt idx="19">
                  <c:v>126100</c:v>
                </c:pt>
                <c:pt idx="20">
                  <c:v>132700</c:v>
                </c:pt>
                <c:pt idx="21">
                  <c:v>132000</c:v>
                </c:pt>
                <c:pt idx="22">
                  <c:v>126700</c:v>
                </c:pt>
                <c:pt idx="23">
                  <c:v>132100</c:v>
                </c:pt>
                <c:pt idx="24">
                  <c:v>133700</c:v>
                </c:pt>
                <c:pt idx="25">
                  <c:v>143100</c:v>
                </c:pt>
                <c:pt idx="26">
                  <c:v>144700</c:v>
                </c:pt>
                <c:pt idx="27">
                  <c:v>148500</c:v>
                </c:pt>
                <c:pt idx="28">
                  <c:v>140000</c:v>
                </c:pt>
              </c:numCache>
            </c:numRef>
          </c:val>
          <c:smooth val="0"/>
          <c:extLst>
            <c:ext xmlns:c16="http://schemas.microsoft.com/office/drawing/2014/chart" uri="{C3380CC4-5D6E-409C-BE32-E72D297353CC}">
              <c16:uniqueId val="{00000001-0E98-43BC-BF00-9587004FF07A}"/>
            </c:ext>
          </c:extLst>
        </c:ser>
        <c:dLbls>
          <c:showLegendKey val="0"/>
          <c:showVal val="0"/>
          <c:showCatName val="0"/>
          <c:showSerName val="0"/>
          <c:showPercent val="0"/>
          <c:showBubbleSize val="0"/>
        </c:dLbls>
        <c:smooth val="0"/>
        <c:axId val="1970989696"/>
        <c:axId val="1970991360"/>
      </c:lineChart>
      <c:catAx>
        <c:axId val="1970989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70991360"/>
        <c:crosses val="autoZero"/>
        <c:auto val="1"/>
        <c:lblAlgn val="ctr"/>
        <c:lblOffset val="100"/>
        <c:noMultiLvlLbl val="0"/>
      </c:catAx>
      <c:valAx>
        <c:axId val="1970991360"/>
        <c:scaling>
          <c:orientation val="minMax"/>
        </c:scaling>
        <c:delete val="0"/>
        <c:axPos val="l"/>
        <c:majorGridlines>
          <c:spPr>
            <a:ln w="9525" cap="flat" cmpd="sng" algn="ctr">
              <a:solidFill>
                <a:schemeClr val="tx1">
                  <a:alpha val="3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crossAx val="197098969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4A0ADD-5F09-4F56-8AB8-F45A6A32484E}" type="datetimeFigureOut">
              <a:rPr lang="en-SG" smtClean="0"/>
              <a:t>19/3/2020</a:t>
            </a:fld>
            <a:endParaRPr lang="en-SG"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7E53F1-015A-4A1E-A6A4-5C34CD16E43A}" type="slidenum">
              <a:rPr lang="en-SG" smtClean="0"/>
              <a:t>‹#›</a:t>
            </a:fld>
            <a:endParaRPr lang="en-SG" dirty="0"/>
          </a:p>
        </p:txBody>
      </p:sp>
    </p:spTree>
    <p:extLst>
      <p:ext uri="{BB962C8B-B14F-4D97-AF65-F5344CB8AC3E}">
        <p14:creationId xmlns:p14="http://schemas.microsoft.com/office/powerpoint/2010/main" val="675823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F47E53F1-015A-4A1E-A6A4-5C34CD16E43A}" type="slidenum">
              <a:rPr lang="en-SG" smtClean="0"/>
              <a:t>15</a:t>
            </a:fld>
            <a:endParaRPr lang="en-SG" dirty="0"/>
          </a:p>
        </p:txBody>
      </p:sp>
    </p:spTree>
    <p:extLst>
      <p:ext uri="{BB962C8B-B14F-4D97-AF65-F5344CB8AC3E}">
        <p14:creationId xmlns:p14="http://schemas.microsoft.com/office/powerpoint/2010/main" val="3717498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F47E53F1-015A-4A1E-A6A4-5C34CD16E43A}" type="slidenum">
              <a:rPr lang="en-SG" smtClean="0"/>
              <a:t>16</a:t>
            </a:fld>
            <a:endParaRPr lang="en-SG" dirty="0"/>
          </a:p>
        </p:txBody>
      </p:sp>
    </p:spTree>
    <p:extLst>
      <p:ext uri="{BB962C8B-B14F-4D97-AF65-F5344CB8AC3E}">
        <p14:creationId xmlns:p14="http://schemas.microsoft.com/office/powerpoint/2010/main" val="206049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F47E53F1-015A-4A1E-A6A4-5C34CD16E43A}" type="slidenum">
              <a:rPr lang="en-SG" smtClean="0"/>
              <a:t>22</a:t>
            </a:fld>
            <a:endParaRPr lang="en-SG" dirty="0"/>
          </a:p>
        </p:txBody>
      </p:sp>
    </p:spTree>
    <p:extLst>
      <p:ext uri="{BB962C8B-B14F-4D97-AF65-F5344CB8AC3E}">
        <p14:creationId xmlns:p14="http://schemas.microsoft.com/office/powerpoint/2010/main" val="4184786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F47E53F1-015A-4A1E-A6A4-5C34CD16E43A}" type="slidenum">
              <a:rPr lang="en-SG" smtClean="0"/>
              <a:t>24</a:t>
            </a:fld>
            <a:endParaRPr lang="en-SG" dirty="0"/>
          </a:p>
        </p:txBody>
      </p:sp>
    </p:spTree>
    <p:extLst>
      <p:ext uri="{BB962C8B-B14F-4D97-AF65-F5344CB8AC3E}">
        <p14:creationId xmlns:p14="http://schemas.microsoft.com/office/powerpoint/2010/main" val="1871733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F47E53F1-015A-4A1E-A6A4-5C34CD16E43A}" type="slidenum">
              <a:rPr lang="en-SG" smtClean="0"/>
              <a:t>27</a:t>
            </a:fld>
            <a:endParaRPr lang="en-SG" dirty="0"/>
          </a:p>
        </p:txBody>
      </p:sp>
    </p:spTree>
    <p:extLst>
      <p:ext uri="{BB962C8B-B14F-4D97-AF65-F5344CB8AC3E}">
        <p14:creationId xmlns:p14="http://schemas.microsoft.com/office/powerpoint/2010/main" val="4209282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100DDF14-6200-43F8-BDDF-D804DD334DEF}" type="slidenum">
              <a:rPr lang="en-SG" smtClean="0"/>
              <a:t>‹#›</a:t>
            </a:fld>
            <a:endParaRPr lang="en-SG" dirty="0"/>
          </a:p>
        </p:txBody>
      </p:sp>
    </p:spTree>
    <p:extLst>
      <p:ext uri="{BB962C8B-B14F-4D97-AF65-F5344CB8AC3E}">
        <p14:creationId xmlns:p14="http://schemas.microsoft.com/office/powerpoint/2010/main" val="378239191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100DDF14-6200-43F8-BDDF-D804DD334DEF}" type="slidenum">
              <a:rPr lang="en-SG" smtClean="0"/>
              <a:t>‹#›</a:t>
            </a:fld>
            <a:endParaRPr lang="en-SG" dirty="0"/>
          </a:p>
        </p:txBody>
      </p:sp>
    </p:spTree>
    <p:extLst>
      <p:ext uri="{BB962C8B-B14F-4D97-AF65-F5344CB8AC3E}">
        <p14:creationId xmlns:p14="http://schemas.microsoft.com/office/powerpoint/2010/main" val="81059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100DDF14-6200-43F8-BDDF-D804DD334DEF}" type="slidenum">
              <a:rPr lang="en-SG" smtClean="0"/>
              <a:t>‹#›</a:t>
            </a:fld>
            <a:endParaRPr lang="en-SG" dirty="0"/>
          </a:p>
        </p:txBody>
      </p:sp>
    </p:spTree>
    <p:extLst>
      <p:ext uri="{BB962C8B-B14F-4D97-AF65-F5344CB8AC3E}">
        <p14:creationId xmlns:p14="http://schemas.microsoft.com/office/powerpoint/2010/main" val="32315747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100DDF14-6200-43F8-BDDF-D804DD334DEF}" type="slidenum">
              <a:rPr lang="en-SG" smtClean="0"/>
              <a:t>‹#›</a:t>
            </a:fld>
            <a:endParaRPr lang="en-SG" dirty="0"/>
          </a:p>
        </p:txBody>
      </p:sp>
    </p:spTree>
    <p:extLst>
      <p:ext uri="{BB962C8B-B14F-4D97-AF65-F5344CB8AC3E}">
        <p14:creationId xmlns:p14="http://schemas.microsoft.com/office/powerpoint/2010/main" val="427038635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8" name="Footer Placeholder 7"/>
          <p:cNvSpPr>
            <a:spLocks noGrp="1"/>
          </p:cNvSpPr>
          <p:nvPr>
            <p:ph type="ftr" sz="quarter" idx="11"/>
          </p:nvPr>
        </p:nvSpPr>
        <p:spPr/>
        <p:txBody>
          <a:bodyPr/>
          <a:lstStyle/>
          <a:p>
            <a:endParaRPr lang="en-SG" dirty="0"/>
          </a:p>
        </p:txBody>
      </p:sp>
      <p:sp>
        <p:nvSpPr>
          <p:cNvPr id="9" name="Slide Number Placeholder 8"/>
          <p:cNvSpPr>
            <a:spLocks noGrp="1"/>
          </p:cNvSpPr>
          <p:nvPr>
            <p:ph type="sldNum" sz="quarter" idx="12"/>
          </p:nvPr>
        </p:nvSpPr>
        <p:spPr/>
        <p:txBody>
          <a:bodyPr/>
          <a:lstStyle/>
          <a:p>
            <a:fld id="{100DDF14-6200-43F8-BDDF-D804DD334DEF}" type="slidenum">
              <a:rPr lang="en-SG" smtClean="0"/>
              <a:t>‹#›</a:t>
            </a:fld>
            <a:endParaRPr lang="en-SG" dirty="0"/>
          </a:p>
        </p:txBody>
      </p:sp>
    </p:spTree>
    <p:extLst>
      <p:ext uri="{BB962C8B-B14F-4D97-AF65-F5344CB8AC3E}">
        <p14:creationId xmlns:p14="http://schemas.microsoft.com/office/powerpoint/2010/main" val="170788551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4" name="Footer Placeholder 3"/>
          <p:cNvSpPr>
            <a:spLocks noGrp="1"/>
          </p:cNvSpPr>
          <p:nvPr>
            <p:ph type="ftr" sz="quarter" idx="11"/>
          </p:nvPr>
        </p:nvSpPr>
        <p:spPr/>
        <p:txBody>
          <a:bodyPr/>
          <a:lstStyle/>
          <a:p>
            <a:endParaRPr lang="en-SG" dirty="0"/>
          </a:p>
        </p:txBody>
      </p:sp>
      <p:sp>
        <p:nvSpPr>
          <p:cNvPr id="5" name="Slide Number Placeholder 4"/>
          <p:cNvSpPr>
            <a:spLocks noGrp="1"/>
          </p:cNvSpPr>
          <p:nvPr>
            <p:ph type="sldNum" sz="quarter" idx="12"/>
          </p:nvPr>
        </p:nvSpPr>
        <p:spPr/>
        <p:txBody>
          <a:bodyPr/>
          <a:lstStyle/>
          <a:p>
            <a:fld id="{100DDF14-6200-43F8-BDDF-D804DD334DEF}" type="slidenum">
              <a:rPr lang="en-SG" smtClean="0"/>
              <a:t>‹#›</a:t>
            </a:fld>
            <a:endParaRPr lang="en-SG" dirty="0"/>
          </a:p>
        </p:txBody>
      </p:sp>
    </p:spTree>
    <p:extLst>
      <p:ext uri="{BB962C8B-B14F-4D97-AF65-F5344CB8AC3E}">
        <p14:creationId xmlns:p14="http://schemas.microsoft.com/office/powerpoint/2010/main" val="2357895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3" name="Footer Placeholder 2"/>
          <p:cNvSpPr>
            <a:spLocks noGrp="1"/>
          </p:cNvSpPr>
          <p:nvPr>
            <p:ph type="ftr" sz="quarter" idx="11"/>
          </p:nvPr>
        </p:nvSpPr>
        <p:spPr/>
        <p:txBody>
          <a:bodyPr/>
          <a:lstStyle/>
          <a:p>
            <a:endParaRPr lang="en-SG" dirty="0"/>
          </a:p>
        </p:txBody>
      </p:sp>
      <p:sp>
        <p:nvSpPr>
          <p:cNvPr id="4" name="Slide Number Placeholder 3"/>
          <p:cNvSpPr>
            <a:spLocks noGrp="1"/>
          </p:cNvSpPr>
          <p:nvPr>
            <p:ph type="sldNum" sz="quarter" idx="12"/>
          </p:nvPr>
        </p:nvSpPr>
        <p:spPr/>
        <p:txBody>
          <a:bodyPr/>
          <a:lstStyle/>
          <a:p>
            <a:fld id="{100DDF14-6200-43F8-BDDF-D804DD334DEF}" type="slidenum">
              <a:rPr lang="en-SG" smtClean="0"/>
              <a:t>‹#›</a:t>
            </a:fld>
            <a:endParaRPr lang="en-SG" dirty="0"/>
          </a:p>
        </p:txBody>
      </p:sp>
    </p:spTree>
    <p:extLst>
      <p:ext uri="{BB962C8B-B14F-4D97-AF65-F5344CB8AC3E}">
        <p14:creationId xmlns:p14="http://schemas.microsoft.com/office/powerpoint/2010/main" val="3887397880"/>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100DDF14-6200-43F8-BDDF-D804DD334DEF}" type="slidenum">
              <a:rPr lang="en-SG" smtClean="0"/>
              <a:t>‹#›</a:t>
            </a:fld>
            <a:endParaRPr lang="en-SG" dirty="0"/>
          </a:p>
        </p:txBody>
      </p:sp>
    </p:spTree>
    <p:extLst>
      <p:ext uri="{BB962C8B-B14F-4D97-AF65-F5344CB8AC3E}">
        <p14:creationId xmlns:p14="http://schemas.microsoft.com/office/powerpoint/2010/main" val="302332032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100DDF14-6200-43F8-BDDF-D804DD334DEF}" type="slidenum">
              <a:rPr lang="en-SG" smtClean="0"/>
              <a:t>‹#›</a:t>
            </a:fld>
            <a:endParaRPr lang="en-SG" dirty="0"/>
          </a:p>
        </p:txBody>
      </p:sp>
    </p:spTree>
    <p:extLst>
      <p:ext uri="{BB962C8B-B14F-4D97-AF65-F5344CB8AC3E}">
        <p14:creationId xmlns:p14="http://schemas.microsoft.com/office/powerpoint/2010/main" val="2383873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100DDF14-6200-43F8-BDDF-D804DD334DEF}" type="slidenum">
              <a:rPr lang="en-SG" smtClean="0"/>
              <a:t>‹#›</a:t>
            </a:fld>
            <a:endParaRPr lang="en-SG" dirty="0"/>
          </a:p>
        </p:txBody>
      </p:sp>
    </p:spTree>
    <p:extLst>
      <p:ext uri="{BB962C8B-B14F-4D97-AF65-F5344CB8AC3E}">
        <p14:creationId xmlns:p14="http://schemas.microsoft.com/office/powerpoint/2010/main" val="971217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100DDF14-6200-43F8-BDDF-D804DD334DEF}" type="slidenum">
              <a:rPr lang="en-SG" smtClean="0"/>
              <a:t>‹#›</a:t>
            </a:fld>
            <a:endParaRPr lang="en-SG" dirty="0"/>
          </a:p>
        </p:txBody>
      </p:sp>
    </p:spTree>
    <p:extLst>
      <p:ext uri="{BB962C8B-B14F-4D97-AF65-F5344CB8AC3E}">
        <p14:creationId xmlns:p14="http://schemas.microsoft.com/office/powerpoint/2010/main" val="1829467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100DDF14-6200-43F8-BDDF-D804DD334DEF}" type="slidenum">
              <a:rPr lang="en-SG" smtClean="0"/>
              <a:t>‹#›</a:t>
            </a:fld>
            <a:endParaRPr lang="en-SG"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5456572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100DDF14-6200-43F8-BDDF-D804DD334DEF}" type="slidenum">
              <a:rPr lang="en-SG" smtClean="0"/>
              <a:t>‹#›</a:t>
            </a:fld>
            <a:endParaRPr lang="en-SG" dirty="0"/>
          </a:p>
        </p:txBody>
      </p:sp>
    </p:spTree>
    <p:extLst>
      <p:ext uri="{BB962C8B-B14F-4D97-AF65-F5344CB8AC3E}">
        <p14:creationId xmlns:p14="http://schemas.microsoft.com/office/powerpoint/2010/main" val="20127239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4" name="Footer Placeholder 3"/>
          <p:cNvSpPr>
            <a:spLocks noGrp="1"/>
          </p:cNvSpPr>
          <p:nvPr>
            <p:ph type="ftr" sz="quarter" idx="11"/>
          </p:nvPr>
        </p:nvSpPr>
        <p:spPr/>
        <p:txBody>
          <a:bodyPr/>
          <a:lstStyle/>
          <a:p>
            <a:endParaRPr lang="en-SG" dirty="0"/>
          </a:p>
        </p:txBody>
      </p:sp>
      <p:sp>
        <p:nvSpPr>
          <p:cNvPr id="5" name="Slide Number Placeholder 4"/>
          <p:cNvSpPr>
            <a:spLocks noGrp="1"/>
          </p:cNvSpPr>
          <p:nvPr>
            <p:ph type="sldNum" sz="quarter" idx="12"/>
          </p:nvPr>
        </p:nvSpPr>
        <p:spPr/>
        <p:txBody>
          <a:bodyPr/>
          <a:lstStyle/>
          <a:p>
            <a:fld id="{100DDF14-6200-43F8-BDDF-D804DD334DEF}" type="slidenum">
              <a:rPr lang="en-SG" smtClean="0"/>
              <a:t>‹#›</a:t>
            </a:fld>
            <a:endParaRPr lang="en-SG" dirty="0"/>
          </a:p>
        </p:txBody>
      </p:sp>
    </p:spTree>
    <p:extLst>
      <p:ext uri="{BB962C8B-B14F-4D97-AF65-F5344CB8AC3E}">
        <p14:creationId xmlns:p14="http://schemas.microsoft.com/office/powerpoint/2010/main" val="33293947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4" name="Footer Placeholder 3"/>
          <p:cNvSpPr>
            <a:spLocks noGrp="1"/>
          </p:cNvSpPr>
          <p:nvPr>
            <p:ph type="ftr" sz="quarter" idx="11"/>
          </p:nvPr>
        </p:nvSpPr>
        <p:spPr/>
        <p:txBody>
          <a:bodyPr/>
          <a:lstStyle/>
          <a:p>
            <a:endParaRPr lang="en-SG" dirty="0"/>
          </a:p>
        </p:txBody>
      </p:sp>
      <p:sp>
        <p:nvSpPr>
          <p:cNvPr id="5" name="Slide Number Placeholder 4"/>
          <p:cNvSpPr>
            <a:spLocks noGrp="1"/>
          </p:cNvSpPr>
          <p:nvPr>
            <p:ph type="sldNum" sz="quarter" idx="12"/>
          </p:nvPr>
        </p:nvSpPr>
        <p:spPr/>
        <p:txBody>
          <a:bodyPr/>
          <a:lstStyle/>
          <a:p>
            <a:fld id="{100DDF14-6200-43F8-BDDF-D804DD334DEF}" type="slidenum">
              <a:rPr lang="en-SG" smtClean="0"/>
              <a:t>‹#›</a:t>
            </a:fld>
            <a:endParaRPr lang="en-SG" dirty="0"/>
          </a:p>
        </p:txBody>
      </p:sp>
    </p:spTree>
    <p:extLst>
      <p:ext uri="{BB962C8B-B14F-4D97-AF65-F5344CB8AC3E}">
        <p14:creationId xmlns:p14="http://schemas.microsoft.com/office/powerpoint/2010/main" val="19597270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100DDF14-6200-43F8-BDDF-D804DD334DEF}" type="slidenum">
              <a:rPr lang="en-SG" smtClean="0"/>
              <a:t>‹#›</a:t>
            </a:fld>
            <a:endParaRPr lang="en-SG" dirty="0"/>
          </a:p>
        </p:txBody>
      </p:sp>
    </p:spTree>
    <p:extLst>
      <p:ext uri="{BB962C8B-B14F-4D97-AF65-F5344CB8AC3E}">
        <p14:creationId xmlns:p14="http://schemas.microsoft.com/office/powerpoint/2010/main" val="914268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49DEE7D-F1FA-4226-9597-978816625A96}" type="datetimeFigureOut">
              <a:rPr lang="en-SG" smtClean="0"/>
              <a:t>19/3/2020</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100DDF14-6200-43F8-BDDF-D804DD334DEF}" type="slidenum">
              <a:rPr lang="en-SG" smtClean="0"/>
              <a:t>‹#›</a:t>
            </a:fld>
            <a:endParaRPr lang="en-SG" dirty="0"/>
          </a:p>
        </p:txBody>
      </p:sp>
    </p:spTree>
    <p:extLst>
      <p:ext uri="{BB962C8B-B14F-4D97-AF65-F5344CB8AC3E}">
        <p14:creationId xmlns:p14="http://schemas.microsoft.com/office/powerpoint/2010/main" val="6261318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49DEE7D-F1FA-4226-9597-978816625A96}" type="datetimeFigureOut">
              <a:rPr lang="en-SG" smtClean="0"/>
              <a:t>19/3/2020</a:t>
            </a:fld>
            <a:endParaRPr lang="en-SG"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SG"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00DDF14-6200-43F8-BDDF-D804DD334DEF}" type="slidenum">
              <a:rPr lang="en-SG" smtClean="0"/>
              <a:t>‹#›</a:t>
            </a:fld>
            <a:endParaRPr lang="en-SG" dirty="0"/>
          </a:p>
        </p:txBody>
      </p:sp>
    </p:spTree>
    <p:extLst>
      <p:ext uri="{BB962C8B-B14F-4D97-AF65-F5344CB8AC3E}">
        <p14:creationId xmlns:p14="http://schemas.microsoft.com/office/powerpoint/2010/main" val="1549194862"/>
      </p:ext>
    </p:extLst>
  </p:cSld>
  <p:clrMap bg1="dk1" tx1="lt1" bg2="dk2" tx2="lt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 id="2147483996" r:id="rId12"/>
    <p:sldLayoutId id="2147483997" r:id="rId13"/>
    <p:sldLayoutId id="2147483998" r:id="rId14"/>
    <p:sldLayoutId id="2147483999" r:id="rId15"/>
    <p:sldLayoutId id="2147484000" r:id="rId16"/>
    <p:sldLayoutId id="214748400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tablebuilder.singstat.gov.sg/publicfacing/createDataTable.action?refId=14172" TargetMode="External"/><Relationship Id="rId3" Type="http://schemas.openxmlformats.org/officeDocument/2006/relationships/hyperlink" Target="http://www.tablebuilder.singstat.gov.sg/publicfacing/createDataTable.action?refId=3733" TargetMode="External"/><Relationship Id="rId7" Type="http://schemas.openxmlformats.org/officeDocument/2006/relationships/hyperlink" Target="https://www.tablebuilder.singstat.gov.sg/publicfacing/createDataTable.action?refId=14168" TargetMode="External"/><Relationship Id="rId2" Type="http://schemas.openxmlformats.org/officeDocument/2006/relationships/hyperlink" Target="https://data.gov.sg/dataset/resident-population-by-ethnicity-gender-and-age-group" TargetMode="External"/><Relationship Id="rId1" Type="http://schemas.openxmlformats.org/officeDocument/2006/relationships/slideLayout" Target="../slideLayouts/slideLayout2.xml"/><Relationship Id="rId6" Type="http://schemas.openxmlformats.org/officeDocument/2006/relationships/hyperlink" Target="https://www.tablebuilder.singstat.gov.sg/publicfacing/createDataTable.action?refId=12082" TargetMode="External"/><Relationship Id="rId5" Type="http://schemas.openxmlformats.org/officeDocument/2006/relationships/hyperlink" Target="https://www.tablebuilder.singstat.gov.sg/publicfacing/createDataTable.action?refId=14912" TargetMode="External"/><Relationship Id="rId4" Type="http://schemas.openxmlformats.org/officeDocument/2006/relationships/hyperlink" Target="https://www.tablebuilder.singstat.gov.sg/publicfacing/createDataTable.action?refId=1324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noFill/>
        </p:spPr>
        <p:txBody>
          <a:bodyPr/>
          <a:lstStyle/>
          <a:p>
            <a:r>
              <a:rPr lang="en-US" dirty="0" smtClean="0">
                <a:ln>
                  <a:solidFill>
                    <a:schemeClr val="bg1">
                      <a:lumMod val="75000"/>
                      <a:lumOff val="25000"/>
                    </a:schemeClr>
                  </a:solidFill>
                </a:ln>
                <a:solidFill>
                  <a:schemeClr val="tx1"/>
                </a:solidFill>
                <a:effectLst>
                  <a:glow rad="139700">
                    <a:schemeClr val="accent5">
                      <a:satMod val="175000"/>
                      <a:alpha val="40000"/>
                    </a:schemeClr>
                  </a:glow>
                </a:effectLst>
              </a:rPr>
              <a:t>MULTI-AGENT MODEL</a:t>
            </a:r>
            <a:endParaRPr lang="en-SG" dirty="0">
              <a:ln>
                <a:solidFill>
                  <a:schemeClr val="bg1">
                    <a:lumMod val="75000"/>
                    <a:lumOff val="25000"/>
                  </a:schemeClr>
                </a:solidFill>
              </a:ln>
              <a:solidFill>
                <a:schemeClr val="tx1"/>
              </a:solidFill>
              <a:effectLst>
                <a:glow rad="139700">
                  <a:schemeClr val="accent5">
                    <a:satMod val="175000"/>
                    <a:alpha val="40000"/>
                  </a:schemeClr>
                </a:glow>
              </a:effectLst>
            </a:endParaRPr>
          </a:p>
        </p:txBody>
      </p:sp>
      <p:sp>
        <p:nvSpPr>
          <p:cNvPr id="3" name="Subtitle 2"/>
          <p:cNvSpPr>
            <a:spLocks noGrp="1"/>
          </p:cNvSpPr>
          <p:nvPr>
            <p:ph type="subTitle" idx="1"/>
          </p:nvPr>
        </p:nvSpPr>
        <p:spPr/>
        <p:txBody>
          <a:bodyPr/>
          <a:lstStyle/>
          <a:p>
            <a:r>
              <a:rPr lang="en-US" dirty="0" smtClean="0"/>
              <a:t>19/12/2019</a:t>
            </a:r>
            <a:endParaRPr lang="en-SG" dirty="0"/>
          </a:p>
        </p:txBody>
      </p:sp>
    </p:spTree>
    <p:extLst>
      <p:ext uri="{BB962C8B-B14F-4D97-AF65-F5344CB8AC3E}">
        <p14:creationId xmlns:p14="http://schemas.microsoft.com/office/powerpoint/2010/main" val="39953886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glow rad="139700">
                    <a:schemeClr val="accent5">
                      <a:satMod val="175000"/>
                      <a:alpha val="40000"/>
                    </a:schemeClr>
                  </a:glow>
                  <a:outerShdw blurRad="9525" dist="25400" dir="14640000" algn="tl" rotWithShape="0">
                    <a:schemeClr val="bg1">
                      <a:alpha val="30000"/>
                    </a:schemeClr>
                  </a:outerShdw>
                </a:effectLst>
              </a:rPr>
              <a:t>Information</a:t>
            </a:r>
            <a:endParaRPr lang="en-SG" dirty="0"/>
          </a:p>
        </p:txBody>
      </p:sp>
      <p:sp>
        <p:nvSpPr>
          <p:cNvPr id="3" name="Content Placeholder 2"/>
          <p:cNvSpPr>
            <a:spLocks noGrp="1"/>
          </p:cNvSpPr>
          <p:nvPr>
            <p:ph idx="1"/>
          </p:nvPr>
        </p:nvSpPr>
        <p:spPr/>
        <p:txBody>
          <a:bodyPr>
            <a:normAutofit fontScale="77500" lnSpcReduction="20000"/>
          </a:bodyPr>
          <a:lstStyle/>
          <a:p>
            <a:r>
              <a:rPr lang="en-US" dirty="0" smtClean="0"/>
              <a:t>Preparation: </a:t>
            </a:r>
          </a:p>
          <a:p>
            <a:r>
              <a:rPr lang="en-US" dirty="0" smtClean="0"/>
              <a:t>1) Downloaded Data about Singapore Population: </a:t>
            </a:r>
          </a:p>
          <a:p>
            <a:pPr lvl="1"/>
            <a:r>
              <a:rPr lang="en-US" dirty="0" smtClean="0"/>
              <a:t>A) </a:t>
            </a:r>
            <a:r>
              <a:rPr lang="en-SG" dirty="0">
                <a:hlinkClick r:id="rId2"/>
              </a:rPr>
              <a:t>https://</a:t>
            </a:r>
            <a:r>
              <a:rPr lang="en-SG" dirty="0" smtClean="0">
                <a:hlinkClick r:id="rId2"/>
              </a:rPr>
              <a:t>data.gov.sg/dataset/resident-population-by-ethnicity-gender-and-age-group</a:t>
            </a:r>
            <a:r>
              <a:rPr lang="en-SG" dirty="0"/>
              <a:t> </a:t>
            </a:r>
            <a:r>
              <a:rPr lang="en-SG" dirty="0" smtClean="0"/>
              <a:t>(Information about Total Resident Population) </a:t>
            </a:r>
          </a:p>
          <a:p>
            <a:pPr lvl="1"/>
            <a:r>
              <a:rPr lang="en-US" dirty="0" smtClean="0"/>
              <a:t>B) </a:t>
            </a:r>
            <a:r>
              <a:rPr lang="en-SG" dirty="0">
                <a:hlinkClick r:id="rId3"/>
              </a:rPr>
              <a:t>http://</a:t>
            </a:r>
            <a:r>
              <a:rPr lang="en-SG" dirty="0" smtClean="0">
                <a:hlinkClick r:id="rId3"/>
              </a:rPr>
              <a:t>www.tablebuilder.singstat.gov.sg/publicfacing/createDataTable.action?refId=3733</a:t>
            </a:r>
            <a:r>
              <a:rPr lang="en-SG" dirty="0" smtClean="0"/>
              <a:t> (Information about Fertility Rates and Births) </a:t>
            </a:r>
          </a:p>
          <a:p>
            <a:pPr lvl="1"/>
            <a:r>
              <a:rPr lang="en-US" dirty="0" smtClean="0"/>
              <a:t>C</a:t>
            </a:r>
            <a:r>
              <a:rPr lang="en-US" dirty="0"/>
              <a:t>) </a:t>
            </a:r>
            <a:r>
              <a:rPr lang="en-SG" dirty="0">
                <a:hlinkClick r:id="rId4"/>
              </a:rPr>
              <a:t>https://www.tablebuilder.singstat.gov.sg/publicfacing/createDataTable.action?refId=13249</a:t>
            </a:r>
            <a:r>
              <a:rPr lang="en-US" dirty="0" smtClean="0"/>
              <a:t>(Information about deaths)</a:t>
            </a:r>
          </a:p>
          <a:p>
            <a:pPr lvl="1"/>
            <a:r>
              <a:rPr lang="en-US" dirty="0" smtClean="0"/>
              <a:t>D) </a:t>
            </a:r>
            <a:r>
              <a:rPr lang="en-SG" dirty="0">
                <a:hlinkClick r:id="rId5"/>
              </a:rPr>
              <a:t>https://</a:t>
            </a:r>
            <a:r>
              <a:rPr lang="en-SG" dirty="0" smtClean="0">
                <a:hlinkClick r:id="rId5"/>
              </a:rPr>
              <a:t>www.tablebuilder.singstat.gov.sg/publicfacing/createDataTable.action?refId=14912</a:t>
            </a:r>
            <a:r>
              <a:rPr lang="en-SG" dirty="0" smtClean="0"/>
              <a:t> (Information about non-Resident Population in Singapore)</a:t>
            </a:r>
          </a:p>
          <a:p>
            <a:pPr lvl="1"/>
            <a:r>
              <a:rPr lang="en-US" dirty="0" smtClean="0"/>
              <a:t>E) </a:t>
            </a:r>
            <a:r>
              <a:rPr lang="en-SG" dirty="0">
                <a:hlinkClick r:id="rId6"/>
              </a:rPr>
              <a:t>https://</a:t>
            </a:r>
            <a:r>
              <a:rPr lang="en-SG" dirty="0" smtClean="0">
                <a:hlinkClick r:id="rId6"/>
              </a:rPr>
              <a:t>www.tablebuilder.singstat.gov.sg/publicfacing/createDataTable.action?refId=12082</a:t>
            </a:r>
            <a:r>
              <a:rPr lang="en-SG" dirty="0" smtClean="0"/>
              <a:t> (Information about Marital Status of Singaporeans)</a:t>
            </a:r>
          </a:p>
          <a:p>
            <a:pPr lvl="1"/>
            <a:r>
              <a:rPr lang="en-US" dirty="0" smtClean="0"/>
              <a:t>F) </a:t>
            </a:r>
            <a:r>
              <a:rPr lang="en-SG" dirty="0">
                <a:hlinkClick r:id="rId7"/>
              </a:rPr>
              <a:t>https://</a:t>
            </a:r>
            <a:r>
              <a:rPr lang="en-SG" dirty="0" smtClean="0">
                <a:hlinkClick r:id="rId7"/>
              </a:rPr>
              <a:t>www.tablebuilder.singstat.gov.sg/publicfacing/createDataTable.action?refId=14168</a:t>
            </a:r>
            <a:r>
              <a:rPr lang="en-SG" dirty="0" smtClean="0"/>
              <a:t> (Information about Marriage Rates)</a:t>
            </a:r>
          </a:p>
          <a:p>
            <a:pPr lvl="1"/>
            <a:r>
              <a:rPr lang="en-US" dirty="0" smtClean="0"/>
              <a:t>G) </a:t>
            </a:r>
            <a:r>
              <a:rPr lang="en-SG" dirty="0">
                <a:hlinkClick r:id="rId8"/>
              </a:rPr>
              <a:t>https://</a:t>
            </a:r>
            <a:r>
              <a:rPr lang="en-SG" dirty="0" smtClean="0">
                <a:hlinkClick r:id="rId8"/>
              </a:rPr>
              <a:t>www.tablebuilder.singstat.gov.sg/publicfacing/createDataTable.action?refId=14172</a:t>
            </a:r>
            <a:r>
              <a:rPr lang="en-SG" dirty="0" smtClean="0"/>
              <a:t> (Information about  Divorce Rates)</a:t>
            </a:r>
            <a:endParaRPr lang="en-US" dirty="0" smtClean="0"/>
          </a:p>
          <a:p>
            <a:pPr marL="494100" indent="-457200">
              <a:buFont typeface="+mj-lt"/>
              <a:buAutoNum type="arabicPeriod"/>
            </a:pPr>
            <a:endParaRPr lang="en-US" dirty="0" smtClean="0"/>
          </a:p>
        </p:txBody>
      </p:sp>
    </p:spTree>
    <p:extLst>
      <p:ext uri="{BB962C8B-B14F-4D97-AF65-F5344CB8AC3E}">
        <p14:creationId xmlns:p14="http://schemas.microsoft.com/office/powerpoint/2010/main" val="2577988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effectLst>
                  <a:glow rad="139700">
                    <a:schemeClr val="accent5">
                      <a:satMod val="175000"/>
                      <a:alpha val="40000"/>
                    </a:schemeClr>
                  </a:glow>
                  <a:outerShdw blurRad="9525" dist="25400" dir="14640000" algn="tl" rotWithShape="0">
                    <a:schemeClr val="bg1">
                      <a:alpha val="30000"/>
                    </a:schemeClr>
                  </a:outerShdw>
                </a:effectLst>
              </a:rPr>
              <a:t>Information about Total Resident Population</a:t>
            </a:r>
          </a:p>
        </p:txBody>
      </p:sp>
      <p:sp>
        <p:nvSpPr>
          <p:cNvPr id="3" name="Content Placeholder 2"/>
          <p:cNvSpPr>
            <a:spLocks noGrp="1"/>
          </p:cNvSpPr>
          <p:nvPr>
            <p:ph idx="1"/>
          </p:nvPr>
        </p:nvSpPr>
        <p:spPr/>
        <p:txBody>
          <a:bodyPr>
            <a:normAutofit fontScale="92500"/>
          </a:bodyPr>
          <a:lstStyle/>
          <a:p>
            <a:r>
              <a:rPr lang="en-US" dirty="0" smtClean="0"/>
              <a:t>We have information about total number of citizens and permanent residents together in certain years for</a:t>
            </a:r>
          </a:p>
          <a:p>
            <a:r>
              <a:rPr lang="en-US" dirty="0" smtClean="0"/>
              <a:t>1) Age group {from 0 to 4 years, </a:t>
            </a:r>
            <a:r>
              <a:rPr lang="en-US" dirty="0"/>
              <a:t>from </a:t>
            </a:r>
            <a:r>
              <a:rPr lang="en-US" dirty="0" smtClean="0"/>
              <a:t>5 </a:t>
            </a:r>
            <a:r>
              <a:rPr lang="en-US" dirty="0"/>
              <a:t>to </a:t>
            </a:r>
            <a:r>
              <a:rPr lang="en-US" dirty="0" smtClean="0"/>
              <a:t>9 years, </a:t>
            </a:r>
            <a:r>
              <a:rPr lang="en-US" dirty="0"/>
              <a:t>from </a:t>
            </a:r>
            <a:r>
              <a:rPr lang="en-US" dirty="0" smtClean="0"/>
              <a:t>10 </a:t>
            </a:r>
            <a:r>
              <a:rPr lang="en-US" dirty="0"/>
              <a:t>to </a:t>
            </a:r>
            <a:r>
              <a:rPr lang="en-US" dirty="0" smtClean="0"/>
              <a:t>14 years, </a:t>
            </a:r>
            <a:r>
              <a:rPr lang="en-US" dirty="0"/>
              <a:t>from </a:t>
            </a:r>
            <a:r>
              <a:rPr lang="en-US" dirty="0" smtClean="0"/>
              <a:t>15 </a:t>
            </a:r>
            <a:r>
              <a:rPr lang="en-US" dirty="0"/>
              <a:t>to </a:t>
            </a:r>
            <a:r>
              <a:rPr lang="en-US" dirty="0" smtClean="0"/>
              <a:t>19 years, </a:t>
            </a:r>
            <a:r>
              <a:rPr lang="en-US" dirty="0"/>
              <a:t>from </a:t>
            </a:r>
            <a:r>
              <a:rPr lang="en-US" dirty="0" smtClean="0"/>
              <a:t>20 </a:t>
            </a:r>
            <a:r>
              <a:rPr lang="en-US" dirty="0"/>
              <a:t>to </a:t>
            </a:r>
            <a:r>
              <a:rPr lang="en-US" dirty="0" smtClean="0"/>
              <a:t>24 years, </a:t>
            </a:r>
            <a:r>
              <a:rPr lang="en-US" dirty="0"/>
              <a:t>from </a:t>
            </a:r>
            <a:r>
              <a:rPr lang="en-US" dirty="0" smtClean="0"/>
              <a:t>25 </a:t>
            </a:r>
            <a:r>
              <a:rPr lang="en-US" dirty="0"/>
              <a:t>to </a:t>
            </a:r>
            <a:r>
              <a:rPr lang="en-US" dirty="0" smtClean="0"/>
              <a:t>29 years, </a:t>
            </a:r>
            <a:r>
              <a:rPr lang="en-US" dirty="0"/>
              <a:t>from </a:t>
            </a:r>
            <a:r>
              <a:rPr lang="en-US" dirty="0" smtClean="0"/>
              <a:t>30 </a:t>
            </a:r>
            <a:r>
              <a:rPr lang="en-US" dirty="0"/>
              <a:t>to </a:t>
            </a:r>
            <a:r>
              <a:rPr lang="en-US" dirty="0" smtClean="0"/>
              <a:t>34 years, </a:t>
            </a:r>
            <a:r>
              <a:rPr lang="en-US" dirty="0"/>
              <a:t>from </a:t>
            </a:r>
            <a:r>
              <a:rPr lang="en-US" dirty="0" smtClean="0"/>
              <a:t>35 </a:t>
            </a:r>
            <a:r>
              <a:rPr lang="en-US" dirty="0"/>
              <a:t>to </a:t>
            </a:r>
            <a:r>
              <a:rPr lang="en-US" dirty="0" smtClean="0"/>
              <a:t>39 years, </a:t>
            </a:r>
            <a:r>
              <a:rPr lang="en-US" dirty="0"/>
              <a:t>from </a:t>
            </a:r>
            <a:r>
              <a:rPr lang="en-US" dirty="0" smtClean="0"/>
              <a:t>40 </a:t>
            </a:r>
            <a:r>
              <a:rPr lang="en-US" dirty="0"/>
              <a:t>to </a:t>
            </a:r>
            <a:r>
              <a:rPr lang="en-US" dirty="0" smtClean="0"/>
              <a:t>44 years, </a:t>
            </a:r>
            <a:r>
              <a:rPr lang="en-US" dirty="0"/>
              <a:t>from </a:t>
            </a:r>
            <a:r>
              <a:rPr lang="en-US" dirty="0" smtClean="0"/>
              <a:t>45 </a:t>
            </a:r>
            <a:r>
              <a:rPr lang="en-US" dirty="0"/>
              <a:t>to </a:t>
            </a:r>
            <a:r>
              <a:rPr lang="en-US" dirty="0" smtClean="0"/>
              <a:t>49 years, </a:t>
            </a:r>
            <a:r>
              <a:rPr lang="en-US" dirty="0"/>
              <a:t>from </a:t>
            </a:r>
            <a:r>
              <a:rPr lang="en-US" dirty="0" smtClean="0"/>
              <a:t>50 </a:t>
            </a:r>
            <a:r>
              <a:rPr lang="en-US" dirty="0"/>
              <a:t>to </a:t>
            </a:r>
            <a:r>
              <a:rPr lang="en-US" dirty="0" smtClean="0"/>
              <a:t>54 years, </a:t>
            </a:r>
            <a:r>
              <a:rPr lang="en-US" dirty="0"/>
              <a:t>from </a:t>
            </a:r>
            <a:r>
              <a:rPr lang="en-US" dirty="0" smtClean="0"/>
              <a:t>55 </a:t>
            </a:r>
            <a:r>
              <a:rPr lang="en-US" dirty="0"/>
              <a:t>to </a:t>
            </a:r>
            <a:r>
              <a:rPr lang="en-US" dirty="0" smtClean="0"/>
              <a:t>59 years, </a:t>
            </a:r>
            <a:r>
              <a:rPr lang="en-US" dirty="0"/>
              <a:t>from </a:t>
            </a:r>
            <a:r>
              <a:rPr lang="en-US" dirty="0" smtClean="0"/>
              <a:t>60 </a:t>
            </a:r>
            <a:r>
              <a:rPr lang="en-US" dirty="0"/>
              <a:t>to </a:t>
            </a:r>
            <a:r>
              <a:rPr lang="en-US" dirty="0" smtClean="0"/>
              <a:t>64 years, </a:t>
            </a:r>
            <a:r>
              <a:rPr lang="en-US" dirty="0"/>
              <a:t>from </a:t>
            </a:r>
            <a:r>
              <a:rPr lang="en-US" dirty="0" smtClean="0"/>
              <a:t>65 </a:t>
            </a:r>
            <a:r>
              <a:rPr lang="en-US" dirty="0"/>
              <a:t>to </a:t>
            </a:r>
            <a:r>
              <a:rPr lang="en-US" dirty="0" smtClean="0"/>
              <a:t>69 years, </a:t>
            </a:r>
            <a:r>
              <a:rPr lang="en-US" dirty="0"/>
              <a:t>from </a:t>
            </a:r>
            <a:r>
              <a:rPr lang="en-US" dirty="0" smtClean="0"/>
              <a:t>70 </a:t>
            </a:r>
            <a:r>
              <a:rPr lang="en-US" dirty="0"/>
              <a:t>to </a:t>
            </a:r>
            <a:r>
              <a:rPr lang="en-US" dirty="0" smtClean="0"/>
              <a:t>74 years, </a:t>
            </a:r>
            <a:r>
              <a:rPr lang="en-US" dirty="0"/>
              <a:t>from </a:t>
            </a:r>
            <a:r>
              <a:rPr lang="en-US" dirty="0" smtClean="0"/>
              <a:t>75 </a:t>
            </a:r>
            <a:r>
              <a:rPr lang="en-US" dirty="0"/>
              <a:t>to </a:t>
            </a:r>
            <a:r>
              <a:rPr lang="en-US" dirty="0" smtClean="0"/>
              <a:t>79 years, </a:t>
            </a:r>
            <a:r>
              <a:rPr lang="en-US" dirty="0"/>
              <a:t>from </a:t>
            </a:r>
            <a:r>
              <a:rPr lang="en-US" dirty="0" smtClean="0"/>
              <a:t>80 </a:t>
            </a:r>
            <a:r>
              <a:rPr lang="en-US" dirty="0"/>
              <a:t>to </a:t>
            </a:r>
            <a:r>
              <a:rPr lang="en-US" dirty="0" smtClean="0"/>
              <a:t>84 years,  from 85 years}</a:t>
            </a:r>
          </a:p>
          <a:p>
            <a:r>
              <a:rPr lang="en-US" dirty="0" smtClean="0"/>
              <a:t>2) Gender {male, female}</a:t>
            </a:r>
          </a:p>
          <a:p>
            <a:r>
              <a:rPr lang="en-US" dirty="0" smtClean="0"/>
              <a:t>3) Ethnic Group {Malays, Indians, Chinese, Other }</a:t>
            </a:r>
          </a:p>
          <a:p>
            <a:r>
              <a:rPr lang="en-US" dirty="0" smtClean="0"/>
              <a:t>4) Year [1957; 2018]</a:t>
            </a:r>
          </a:p>
          <a:p>
            <a:r>
              <a:rPr lang="en-US" dirty="0" smtClean="0"/>
              <a:t>And each combination. For instance, we know how many male Malays residents and permanent  from 35 to 39 lived in Singapore in 1986.</a:t>
            </a:r>
            <a:endParaRPr lang="en-SG" dirty="0"/>
          </a:p>
        </p:txBody>
      </p:sp>
    </p:spTree>
    <p:extLst>
      <p:ext uri="{BB962C8B-B14F-4D97-AF65-F5344CB8AC3E}">
        <p14:creationId xmlns:p14="http://schemas.microsoft.com/office/powerpoint/2010/main" val="4139870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ffectLst>
            <a:glow rad="139700">
              <a:schemeClr val="accent5">
                <a:satMod val="175000"/>
                <a:alpha val="40000"/>
              </a:schemeClr>
            </a:glow>
            <a:outerShdw blurRad="25400" dir="17880000">
              <a:srgbClr val="000000">
                <a:alpha val="46000"/>
              </a:srgbClr>
            </a:outerShdw>
          </a:effectLst>
        </p:spPr>
        <p:txBody>
          <a:bodyPr/>
          <a:lstStyle/>
          <a:p>
            <a:r>
              <a:rPr lang="en-SG" dirty="0">
                <a:effectLst>
                  <a:glow rad="139700">
                    <a:schemeClr val="accent5">
                      <a:satMod val="175000"/>
                      <a:alpha val="40000"/>
                    </a:schemeClr>
                  </a:glow>
                  <a:outerShdw blurRad="9525" dist="25400" dir="14640000" algn="tl" rotWithShape="0">
                    <a:schemeClr val="bg1">
                      <a:alpha val="30000"/>
                    </a:schemeClr>
                  </a:outerShdw>
                </a:effectLst>
              </a:rPr>
              <a:t>Information about Fertility Rates and Births</a:t>
            </a:r>
          </a:p>
        </p:txBody>
      </p:sp>
      <p:sp>
        <p:nvSpPr>
          <p:cNvPr id="3" name="Content Placeholder 2"/>
          <p:cNvSpPr>
            <a:spLocks noGrp="1"/>
          </p:cNvSpPr>
          <p:nvPr>
            <p:ph idx="1"/>
          </p:nvPr>
        </p:nvSpPr>
        <p:spPr/>
        <p:txBody>
          <a:bodyPr>
            <a:normAutofit fontScale="92500" lnSpcReduction="10000"/>
          </a:bodyPr>
          <a:lstStyle/>
          <a:p>
            <a:r>
              <a:rPr lang="en-US" dirty="0" smtClean="0"/>
              <a:t>We have information about number of babies who were born per Thousand Females in certain year (Mothers who born):</a:t>
            </a:r>
          </a:p>
          <a:p>
            <a:r>
              <a:rPr lang="en-US" dirty="0" smtClean="0"/>
              <a:t>1) Age Groups {from 15 to 19 years, from 20 to 24 years, from 25 to 29 years, from 30 to 34 years, from 35 to 39 years, from 40 to 44 years, from 45 to 49 years}. This describes age of mother when she born a baby.</a:t>
            </a:r>
          </a:p>
          <a:p>
            <a:r>
              <a:rPr lang="en-US" dirty="0" smtClean="0"/>
              <a:t>2) Year [1960; 2018]</a:t>
            </a:r>
          </a:p>
          <a:p>
            <a:r>
              <a:rPr lang="en-US" dirty="0" smtClean="0"/>
              <a:t>3) Other information such as: number of babies who were born by Indian, Malay, Chinese mother, Gross Reproduction Rate, Net Reproduction Rate, Crude Birth Rate, Total Live-births and Resident Live-births</a:t>
            </a:r>
          </a:p>
          <a:p>
            <a:endParaRPr lang="en-US" dirty="0"/>
          </a:p>
          <a:p>
            <a:r>
              <a:rPr lang="en-US" dirty="0" smtClean="0"/>
              <a:t> For each combination 1) + 2) we know how many babies were born in 1987 by 1000 females and these females are from 20 to 24 years old.</a:t>
            </a:r>
            <a:endParaRPr lang="en-SG" dirty="0"/>
          </a:p>
        </p:txBody>
      </p:sp>
    </p:spTree>
    <p:extLst>
      <p:ext uri="{BB962C8B-B14F-4D97-AF65-F5344CB8AC3E}">
        <p14:creationId xmlns:p14="http://schemas.microsoft.com/office/powerpoint/2010/main" val="474970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glow rad="139700">
                    <a:schemeClr val="accent5">
                      <a:satMod val="175000"/>
                      <a:alpha val="40000"/>
                    </a:schemeClr>
                  </a:glow>
                  <a:outerShdw blurRad="9525" dist="25400" dir="14640000" algn="tl" rotWithShape="0">
                    <a:schemeClr val="bg1">
                      <a:alpha val="30000"/>
                    </a:schemeClr>
                  </a:outerShdw>
                </a:effectLst>
              </a:rPr>
              <a:t>Information about deaths</a:t>
            </a:r>
            <a:endParaRPr lang="en-SG" dirty="0">
              <a:effectLst>
                <a:glow rad="139700">
                  <a:schemeClr val="accent5">
                    <a:satMod val="175000"/>
                    <a:alpha val="40000"/>
                  </a:schemeClr>
                </a:glow>
                <a:outerShdw blurRad="9525" dist="25400" dir="14640000" algn="tl" rotWithShape="0">
                  <a:schemeClr val="bg1">
                    <a:alpha val="30000"/>
                  </a:schemeClr>
                </a:outerShdw>
              </a:effectLst>
            </a:endParaRPr>
          </a:p>
        </p:txBody>
      </p:sp>
      <p:sp>
        <p:nvSpPr>
          <p:cNvPr id="3" name="Content Placeholder 2"/>
          <p:cNvSpPr>
            <a:spLocks noGrp="1"/>
          </p:cNvSpPr>
          <p:nvPr>
            <p:ph idx="1"/>
          </p:nvPr>
        </p:nvSpPr>
        <p:spPr/>
        <p:txBody>
          <a:bodyPr>
            <a:normAutofit fontScale="92500"/>
          </a:bodyPr>
          <a:lstStyle/>
          <a:p>
            <a:r>
              <a:rPr lang="en-US" dirty="0" smtClean="0"/>
              <a:t>We have information about number of permanent residents and citizens who died in certain year for:</a:t>
            </a:r>
          </a:p>
          <a:p>
            <a:r>
              <a:rPr lang="en-US" dirty="0" smtClean="0"/>
              <a:t>1) Age Group {0 years, 1 – 4 years, 5 – 9 years, 10 – 14 years, 15 – 19 years, 20 – 24 years, 25 – 29 years, 30 – 34 years, 35 – 39 years, 40 – 44 years, 45 – 49 years, 50 – 54 years, 55 -59 years, 60 – 64 years, 65 – 69 years, 70 – 74 years, 75 – 79 years, 80 – 84 years, 85 – 89 years, 70 years and more, 80 years and more, 75 years and more, 85 years and more, 90 years and more}</a:t>
            </a:r>
          </a:p>
          <a:p>
            <a:r>
              <a:rPr lang="en-US" dirty="0" smtClean="0"/>
              <a:t>2) Gender {male, female}</a:t>
            </a:r>
          </a:p>
          <a:p>
            <a:r>
              <a:rPr lang="en-US" dirty="0" smtClean="0"/>
              <a:t>3) Years [1960 - 2018]</a:t>
            </a:r>
          </a:p>
          <a:p>
            <a:endParaRPr lang="en-US" dirty="0"/>
          </a:p>
          <a:p>
            <a:r>
              <a:rPr lang="en-US" dirty="0" smtClean="0"/>
              <a:t>Each combination: we know how many males permanent residents and citizens died in 1967  from 34 to 39 years old.</a:t>
            </a:r>
          </a:p>
        </p:txBody>
      </p:sp>
    </p:spTree>
    <p:extLst>
      <p:ext uri="{BB962C8B-B14F-4D97-AF65-F5344CB8AC3E}">
        <p14:creationId xmlns:p14="http://schemas.microsoft.com/office/powerpoint/2010/main" val="2037440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SG" dirty="0">
                <a:effectLst>
                  <a:glow rad="139700">
                    <a:schemeClr val="accent5">
                      <a:satMod val="175000"/>
                      <a:alpha val="40000"/>
                    </a:schemeClr>
                  </a:glow>
                  <a:outerShdw blurRad="9525" dist="25400" dir="14640000" algn="tl" rotWithShape="0">
                    <a:schemeClr val="bg1">
                      <a:alpha val="30000"/>
                    </a:schemeClr>
                  </a:outerShdw>
                </a:effectLst>
              </a:rPr>
              <a:t>Information about non-Resident </a:t>
            </a:r>
            <a:r>
              <a:rPr lang="en-SG" dirty="0" smtClean="0">
                <a:effectLst>
                  <a:glow rad="139700">
                    <a:schemeClr val="accent5">
                      <a:satMod val="175000"/>
                      <a:alpha val="40000"/>
                    </a:schemeClr>
                  </a:glow>
                  <a:outerShdw blurRad="9525" dist="25400" dir="14640000" algn="tl" rotWithShape="0">
                    <a:schemeClr val="bg1">
                      <a:alpha val="30000"/>
                    </a:schemeClr>
                  </a:outerShdw>
                </a:effectLst>
              </a:rPr>
              <a:t>Population</a:t>
            </a:r>
            <a:endParaRPr lang="en-SG" dirty="0">
              <a:effectLst>
                <a:glow rad="139700">
                  <a:schemeClr val="accent5">
                    <a:satMod val="175000"/>
                    <a:alpha val="40000"/>
                  </a:schemeClr>
                </a:glow>
                <a:outerShdw blurRad="9525" dist="25400" dir="14640000" algn="tl" rotWithShape="0">
                  <a:schemeClr val="bg1">
                    <a:alpha val="30000"/>
                  </a:schemeClr>
                </a:outerShdw>
              </a:effectLst>
            </a:endParaRPr>
          </a:p>
        </p:txBody>
      </p:sp>
      <p:sp>
        <p:nvSpPr>
          <p:cNvPr id="3" name="Content Placeholder 2"/>
          <p:cNvSpPr>
            <a:spLocks noGrp="1"/>
          </p:cNvSpPr>
          <p:nvPr>
            <p:ph idx="1"/>
          </p:nvPr>
        </p:nvSpPr>
        <p:spPr>
          <a:xfrm>
            <a:off x="913795" y="1313235"/>
            <a:ext cx="10353762" cy="4477966"/>
          </a:xfrm>
        </p:spPr>
        <p:txBody>
          <a:bodyPr/>
          <a:lstStyle/>
          <a:p>
            <a:r>
              <a:rPr lang="en-US" dirty="0" smtClean="0"/>
              <a:t>We have information about number of non-residents (temporary residents, no tourists) for every year from 19</a:t>
            </a:r>
            <a:r>
              <a:rPr lang="ru-RU" dirty="0" smtClean="0"/>
              <a:t>8</a:t>
            </a:r>
            <a:r>
              <a:rPr lang="en-US" dirty="0" smtClean="0"/>
              <a:t>0 to 201</a:t>
            </a:r>
            <a:r>
              <a:rPr lang="ru-RU" dirty="0" smtClean="0"/>
              <a:t>9 (</a:t>
            </a:r>
            <a:r>
              <a:rPr lang="en-US" dirty="0" smtClean="0"/>
              <a:t>No additional information (about age, gender for instance), just number</a:t>
            </a:r>
            <a:r>
              <a:rPr lang="ru-RU" dirty="0" smtClean="0"/>
              <a:t>)</a:t>
            </a:r>
            <a:r>
              <a:rPr lang="en-US" dirty="0" smtClean="0"/>
              <a:t> </a:t>
            </a:r>
            <a:endParaRPr lang="en-SG" dirty="0"/>
          </a:p>
        </p:txBody>
      </p:sp>
      <p:graphicFrame>
        <p:nvGraphicFramePr>
          <p:cNvPr id="5" name="Chart 4"/>
          <p:cNvGraphicFramePr>
            <a:graphicFrameLocks/>
          </p:cNvGraphicFramePr>
          <p:nvPr>
            <p:extLst>
              <p:ext uri="{D42A27DB-BD31-4B8C-83A1-F6EECF244321}">
                <p14:modId xmlns:p14="http://schemas.microsoft.com/office/powerpoint/2010/main" val="901359553"/>
              </p:ext>
            </p:extLst>
          </p:nvPr>
        </p:nvGraphicFramePr>
        <p:xfrm>
          <a:off x="913795" y="2422187"/>
          <a:ext cx="10353761" cy="433853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34715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dirty="0">
                <a:effectLst>
                  <a:glow rad="139700">
                    <a:schemeClr val="accent1">
                      <a:satMod val="175000"/>
                      <a:alpha val="40000"/>
                    </a:schemeClr>
                  </a:glow>
                  <a:outerShdw blurRad="9525" dist="25400" dir="14640000" algn="tl" rotWithShape="0">
                    <a:schemeClr val="bg1">
                      <a:alpha val="30000"/>
                    </a:schemeClr>
                  </a:outerShdw>
                </a:effectLst>
              </a:rPr>
              <a:t>Information about Marital Status of Singaporeans</a:t>
            </a:r>
          </a:p>
        </p:txBody>
      </p:sp>
      <p:sp>
        <p:nvSpPr>
          <p:cNvPr id="3" name="Content Placeholder 2"/>
          <p:cNvSpPr>
            <a:spLocks noGrp="1"/>
          </p:cNvSpPr>
          <p:nvPr>
            <p:ph idx="1"/>
          </p:nvPr>
        </p:nvSpPr>
        <p:spPr/>
        <p:txBody>
          <a:bodyPr/>
          <a:lstStyle/>
          <a:p>
            <a:r>
              <a:rPr lang="en-US" dirty="0" smtClean="0"/>
              <a:t>We have information about number of permanent residents and citizens in Singapore in certain year:</a:t>
            </a:r>
          </a:p>
          <a:p>
            <a:r>
              <a:rPr lang="en-US" dirty="0" smtClean="0"/>
              <a:t>1) Total number of Single, Married, Widowed and Divorced males</a:t>
            </a:r>
            <a:r>
              <a:rPr lang="en-SG" dirty="0" smtClean="0"/>
              <a:t> for every year from 1980 to 2018</a:t>
            </a:r>
          </a:p>
          <a:p>
            <a:r>
              <a:rPr lang="en-US" dirty="0" smtClean="0"/>
              <a:t>2) </a:t>
            </a:r>
            <a:r>
              <a:rPr lang="en-US" dirty="0"/>
              <a:t>Total number of Single, Married, Widowed and Divorced </a:t>
            </a:r>
            <a:r>
              <a:rPr lang="en-US" dirty="0" smtClean="0"/>
              <a:t>females</a:t>
            </a:r>
            <a:r>
              <a:rPr lang="en-SG" dirty="0" smtClean="0"/>
              <a:t> </a:t>
            </a:r>
            <a:r>
              <a:rPr lang="en-SG" dirty="0"/>
              <a:t>for every year from 1980 to 2018</a:t>
            </a:r>
          </a:p>
          <a:p>
            <a:endParaRPr lang="en-US" dirty="0" smtClean="0"/>
          </a:p>
        </p:txBody>
      </p:sp>
    </p:spTree>
    <p:extLst>
      <p:ext uri="{BB962C8B-B14F-4D97-AF65-F5344CB8AC3E}">
        <p14:creationId xmlns:p14="http://schemas.microsoft.com/office/powerpoint/2010/main" val="458510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effectLst>
                  <a:glow rad="139700">
                    <a:schemeClr val="accent1">
                      <a:satMod val="175000"/>
                      <a:alpha val="40000"/>
                    </a:schemeClr>
                  </a:glow>
                  <a:outerShdw blurRad="9525" dist="25400" dir="14640000" algn="tl" rotWithShape="0">
                    <a:schemeClr val="bg1">
                      <a:alpha val="30000"/>
                    </a:schemeClr>
                  </a:outerShdw>
                </a:effectLst>
              </a:rPr>
              <a:t>Information about Marriage Rates</a:t>
            </a:r>
          </a:p>
        </p:txBody>
      </p:sp>
      <p:sp>
        <p:nvSpPr>
          <p:cNvPr id="3" name="Content Placeholder 2"/>
          <p:cNvSpPr>
            <a:spLocks noGrp="1"/>
          </p:cNvSpPr>
          <p:nvPr>
            <p:ph idx="1"/>
          </p:nvPr>
        </p:nvSpPr>
        <p:spPr/>
        <p:txBody>
          <a:bodyPr/>
          <a:lstStyle/>
          <a:p>
            <a:r>
              <a:rPr lang="en-US" dirty="0" smtClean="0"/>
              <a:t>We have information about marriages per 1000 unmarried persons among permanent residents and citizens in Singapore in certain year for: </a:t>
            </a:r>
          </a:p>
          <a:p>
            <a:r>
              <a:rPr lang="en-US" dirty="0" smtClean="0"/>
              <a:t>1)  Age Groups {15 – 19 years, 20-24 years, </a:t>
            </a:r>
            <a:r>
              <a:rPr lang="ru-RU" dirty="0" smtClean="0"/>
              <a:t>25 – 29 </a:t>
            </a:r>
            <a:r>
              <a:rPr lang="en-US" dirty="0" smtClean="0"/>
              <a:t>years, 30 – 34 years, 35 – 39 years, 40 – 44 years, 45 – 49 years, 50 – 54 years, 55 – 59 years, 60 -64 years, 65 and more years}</a:t>
            </a:r>
          </a:p>
          <a:p>
            <a:r>
              <a:rPr lang="en-US" dirty="0" smtClean="0"/>
              <a:t>2) Genders {male, female}</a:t>
            </a:r>
          </a:p>
          <a:p>
            <a:r>
              <a:rPr lang="en-US" dirty="0" smtClean="0"/>
              <a:t>3) Year [1980; 2018]</a:t>
            </a:r>
            <a:endParaRPr lang="ru-RU" dirty="0" smtClean="0"/>
          </a:p>
          <a:p>
            <a:endParaRPr lang="ru-RU" dirty="0"/>
          </a:p>
          <a:p>
            <a:r>
              <a:rPr lang="en-US" dirty="0" smtClean="0"/>
              <a:t>Any combination: for instance, we know how many among 1000 unmarried permanent residents and citizens were married in 1999 if these persons are males and 60 – 64 years old.</a:t>
            </a:r>
          </a:p>
          <a:p>
            <a:endParaRPr lang="en-US" dirty="0"/>
          </a:p>
          <a:p>
            <a:endParaRPr lang="en-SG" dirty="0"/>
          </a:p>
        </p:txBody>
      </p:sp>
    </p:spTree>
    <p:extLst>
      <p:ext uri="{BB962C8B-B14F-4D97-AF65-F5344CB8AC3E}">
        <p14:creationId xmlns:p14="http://schemas.microsoft.com/office/powerpoint/2010/main" val="4247165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effectLst>
                  <a:glow rad="139700">
                    <a:schemeClr val="accent1">
                      <a:satMod val="175000"/>
                      <a:alpha val="40000"/>
                    </a:schemeClr>
                  </a:glow>
                  <a:outerShdw blurRad="9525" dist="25400" dir="14640000" algn="tl" rotWithShape="0">
                    <a:schemeClr val="bg1">
                      <a:alpha val="30000"/>
                    </a:schemeClr>
                  </a:outerShdw>
                </a:effectLst>
              </a:rPr>
              <a:t>Information about  Divorce Rates</a:t>
            </a:r>
          </a:p>
        </p:txBody>
      </p:sp>
      <p:sp>
        <p:nvSpPr>
          <p:cNvPr id="3" name="Content Placeholder 2"/>
          <p:cNvSpPr>
            <a:spLocks noGrp="1"/>
          </p:cNvSpPr>
          <p:nvPr>
            <p:ph idx="1"/>
          </p:nvPr>
        </p:nvSpPr>
        <p:spPr/>
        <p:txBody>
          <a:bodyPr/>
          <a:lstStyle/>
          <a:p>
            <a:r>
              <a:rPr lang="en-US" dirty="0" smtClean="0"/>
              <a:t>We have information about number of divorces per 1000 married permanent residents and citizens in Singapore  in certain year for: </a:t>
            </a:r>
          </a:p>
          <a:p>
            <a:r>
              <a:rPr lang="en-US" dirty="0" smtClean="0"/>
              <a:t>1)  Age Group (20 – 24 years, 25 – 29 years, 30 – 34 years, 35 – 39 years, 40 – 44 years, 45 – 49 years, 50 years or more)</a:t>
            </a:r>
          </a:p>
          <a:p>
            <a:r>
              <a:rPr lang="en-US" dirty="0" smtClean="0"/>
              <a:t>2) Gender {male, female}</a:t>
            </a:r>
          </a:p>
          <a:p>
            <a:r>
              <a:rPr lang="en-US" dirty="0" smtClean="0"/>
              <a:t>3) Age [1980; 2018]</a:t>
            </a:r>
          </a:p>
          <a:p>
            <a:endParaRPr lang="en-US" dirty="0"/>
          </a:p>
          <a:p>
            <a:r>
              <a:rPr lang="en-US" dirty="0" smtClean="0"/>
              <a:t>Combinations: We know how many divorces occurred in certain year, gender and age group per 1000 permanent residents and citizens. </a:t>
            </a:r>
            <a:endParaRPr lang="en-SG" dirty="0"/>
          </a:p>
        </p:txBody>
      </p:sp>
    </p:spTree>
    <p:extLst>
      <p:ext uri="{BB962C8B-B14F-4D97-AF65-F5344CB8AC3E}">
        <p14:creationId xmlns:p14="http://schemas.microsoft.com/office/powerpoint/2010/main" val="403691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glow rad="139700">
                    <a:schemeClr val="accent1">
                      <a:satMod val="175000"/>
                      <a:alpha val="40000"/>
                    </a:schemeClr>
                  </a:glow>
                  <a:outerShdw blurRad="9525" dist="25400" dir="14640000" algn="tl" rotWithShape="0">
                    <a:schemeClr val="bg1">
                      <a:alpha val="30000"/>
                    </a:schemeClr>
                  </a:outerShdw>
                </a:effectLst>
              </a:rPr>
              <a:t>Creating initial population</a:t>
            </a:r>
            <a:endParaRPr lang="en-SG" dirty="0">
              <a:effectLst>
                <a:glow rad="139700">
                  <a:schemeClr val="accent1">
                    <a:satMod val="175000"/>
                    <a:alpha val="40000"/>
                  </a:schemeClr>
                </a:glow>
                <a:outerShdw blurRad="9525" dist="25400" dir="14640000" algn="tl" rotWithShape="0">
                  <a:schemeClr val="bg1">
                    <a:alpha val="30000"/>
                  </a:schemeClr>
                </a:outerShdw>
              </a:effectLst>
            </a:endParaRPr>
          </a:p>
        </p:txBody>
      </p:sp>
      <p:sp>
        <p:nvSpPr>
          <p:cNvPr id="3" name="Content Placeholder 2"/>
          <p:cNvSpPr>
            <a:spLocks noGrp="1"/>
          </p:cNvSpPr>
          <p:nvPr>
            <p:ph idx="1"/>
          </p:nvPr>
        </p:nvSpPr>
        <p:spPr/>
        <p:txBody>
          <a:bodyPr>
            <a:normAutofit fontScale="92500" lnSpcReduction="10000"/>
          </a:bodyPr>
          <a:lstStyle/>
          <a:p>
            <a:r>
              <a:rPr lang="en-US" dirty="0" smtClean="0"/>
              <a:t>1) Get year. This year is starting point of simulation. We get information corresponding the year about real population using the datasets mentioned before. </a:t>
            </a:r>
          </a:p>
          <a:p>
            <a:r>
              <a:rPr lang="en-US" dirty="0" smtClean="0"/>
              <a:t>2) For each age from 0 to 90 create corresponding historical data number of males</a:t>
            </a:r>
          </a:p>
          <a:p>
            <a:r>
              <a:rPr lang="en-US" dirty="0" smtClean="0"/>
              <a:t>3) For each age from 0 to 90 create corresponding historical data number of females</a:t>
            </a:r>
          </a:p>
          <a:p>
            <a:r>
              <a:rPr lang="en-US" dirty="0" smtClean="0"/>
              <a:t>4) Creating corresponding to the year number of non-residents population. Their age and gender are random values with the same distribution as PRs’</a:t>
            </a:r>
          </a:p>
          <a:p>
            <a:r>
              <a:rPr lang="en-US" dirty="0" smtClean="0"/>
              <a:t>5) For each age set up corresponding number of widowed PRs</a:t>
            </a:r>
          </a:p>
          <a:p>
            <a:r>
              <a:rPr lang="en-US" dirty="0" smtClean="0"/>
              <a:t>6) For each age set up corresponding number of divorced PRs</a:t>
            </a:r>
          </a:p>
          <a:p>
            <a:r>
              <a:rPr lang="en-US" dirty="0" smtClean="0"/>
              <a:t>7) For each age set up corresponding number of married male PRs. For each of them find bride and set up for them marriage status as married.</a:t>
            </a:r>
          </a:p>
          <a:p>
            <a:r>
              <a:rPr lang="en-US" dirty="0" smtClean="0"/>
              <a:t>8) The rest people are single.</a:t>
            </a:r>
          </a:p>
        </p:txBody>
      </p:sp>
    </p:spTree>
    <p:extLst>
      <p:ext uri="{BB962C8B-B14F-4D97-AF65-F5344CB8AC3E}">
        <p14:creationId xmlns:p14="http://schemas.microsoft.com/office/powerpoint/2010/main" val="4237985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effectLst>
                  <a:glow rad="139700">
                    <a:schemeClr val="accent1">
                      <a:satMod val="175000"/>
                      <a:alpha val="40000"/>
                    </a:schemeClr>
                  </a:glow>
                  <a:outerShdw blurRad="9525" dist="25400" dir="14640000" algn="tl" rotWithShape="0">
                    <a:schemeClr val="bg1">
                      <a:alpha val="30000"/>
                    </a:schemeClr>
                  </a:outerShdw>
                </a:effectLst>
              </a:rPr>
              <a:t>Characteristics</a:t>
            </a:r>
            <a:endParaRPr lang="en-SG" dirty="0">
              <a:effectLst>
                <a:glow rad="139700">
                  <a:schemeClr val="accent1">
                    <a:satMod val="175000"/>
                    <a:alpha val="40000"/>
                  </a:schemeClr>
                </a:glow>
                <a:outerShdw blurRad="9525" dist="25400" dir="14640000" algn="tl" rotWithShape="0">
                  <a:schemeClr val="bg1">
                    <a:alpha val="30000"/>
                  </a:schemeClr>
                </a:outerShdw>
              </a:effectLst>
            </a:endParaRPr>
          </a:p>
        </p:txBody>
      </p:sp>
      <p:sp>
        <p:nvSpPr>
          <p:cNvPr id="3" name="Content Placeholder 2"/>
          <p:cNvSpPr>
            <a:spLocks noGrp="1"/>
          </p:cNvSpPr>
          <p:nvPr>
            <p:ph idx="1"/>
          </p:nvPr>
        </p:nvSpPr>
        <p:spPr>
          <a:xfrm>
            <a:off x="913795" y="1489258"/>
            <a:ext cx="10353762" cy="4058751"/>
          </a:xfrm>
        </p:spPr>
        <p:txBody>
          <a:bodyPr/>
          <a:lstStyle/>
          <a:p>
            <a:r>
              <a:rPr lang="en-US" dirty="0" smtClean="0"/>
              <a:t>Because of grouping by age. We should make age distribution more smooth (That’s was done for all years)</a:t>
            </a:r>
          </a:p>
          <a:p>
            <a:endParaRPr lang="en-SG" dirty="0"/>
          </a:p>
        </p:txBody>
      </p:sp>
      <p:graphicFrame>
        <p:nvGraphicFramePr>
          <p:cNvPr id="5" name="Chart 4"/>
          <p:cNvGraphicFramePr>
            <a:graphicFrameLocks/>
          </p:cNvGraphicFramePr>
          <p:nvPr>
            <p:extLst>
              <p:ext uri="{D42A27DB-BD31-4B8C-83A1-F6EECF244321}">
                <p14:modId xmlns:p14="http://schemas.microsoft.com/office/powerpoint/2010/main" val="3409167182"/>
              </p:ext>
            </p:extLst>
          </p:nvPr>
        </p:nvGraphicFramePr>
        <p:xfrm>
          <a:off x="913795" y="2164080"/>
          <a:ext cx="10353762" cy="46939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56676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glow rad="139700">
                    <a:schemeClr val="accent1">
                      <a:satMod val="175000"/>
                      <a:alpha val="40000"/>
                    </a:schemeClr>
                  </a:glow>
                  <a:outerShdw blurRad="9525" dist="25400" dir="14640000" algn="tl" rotWithShape="0">
                    <a:schemeClr val="bg1">
                      <a:alpha val="30000"/>
                    </a:schemeClr>
                  </a:outerShdw>
                </a:effectLst>
              </a:rPr>
              <a:t>Characteristics</a:t>
            </a:r>
            <a:endParaRPr lang="en-SG" dirty="0"/>
          </a:p>
        </p:txBody>
      </p:sp>
      <p:sp>
        <p:nvSpPr>
          <p:cNvPr id="3" name="Content Placeholder 2"/>
          <p:cNvSpPr>
            <a:spLocks noGrp="1"/>
          </p:cNvSpPr>
          <p:nvPr>
            <p:ph idx="1"/>
          </p:nvPr>
        </p:nvSpPr>
        <p:spPr/>
        <p:txBody>
          <a:bodyPr/>
          <a:lstStyle/>
          <a:p>
            <a:r>
              <a:rPr lang="en-US" dirty="0" smtClean="0"/>
              <a:t>TODO: Change marriage status from step function (group separation) to smooth function as age distribution.</a:t>
            </a:r>
            <a:endParaRPr lang="en-SG" dirty="0"/>
          </a:p>
        </p:txBody>
      </p:sp>
    </p:spTree>
    <p:extLst>
      <p:ext uri="{BB962C8B-B14F-4D97-AF65-F5344CB8AC3E}">
        <p14:creationId xmlns:p14="http://schemas.microsoft.com/office/powerpoint/2010/main" val="2805823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608" y="101678"/>
            <a:ext cx="10353762" cy="970450"/>
          </a:xfrm>
        </p:spPr>
        <p:txBody>
          <a:bodyPr/>
          <a:lstStyle/>
          <a:p>
            <a:r>
              <a:rPr lang="en-US" dirty="0" smtClean="0">
                <a:effectLst>
                  <a:glow rad="101600">
                    <a:schemeClr val="accent1">
                      <a:satMod val="175000"/>
                      <a:alpha val="40000"/>
                    </a:schemeClr>
                  </a:glow>
                  <a:outerShdw blurRad="9525" dist="25400" dir="14640000" algn="tl" rotWithShape="0">
                    <a:schemeClr val="bg1">
                      <a:alpha val="30000"/>
                    </a:schemeClr>
                  </a:outerShdw>
                </a:effectLst>
              </a:rPr>
              <a:t>Approximation of Rates (death rates)</a:t>
            </a:r>
            <a:endParaRPr lang="en-SG" dirty="0">
              <a:effectLst>
                <a:glow rad="101600">
                  <a:schemeClr val="accent1">
                    <a:satMod val="175000"/>
                    <a:alpha val="40000"/>
                  </a:schemeClr>
                </a:glow>
                <a:outerShdw blurRad="9525" dist="25400" dir="14640000" algn="tl" rotWithShape="0">
                  <a:schemeClr val="bg1">
                    <a:alpha val="30000"/>
                  </a:schemeClr>
                </a:outerShdw>
              </a:effectLst>
            </a:endParaRPr>
          </a:p>
        </p:txBody>
      </p:sp>
      <p:sp>
        <p:nvSpPr>
          <p:cNvPr id="3" name="Content Placeholder 2"/>
          <p:cNvSpPr>
            <a:spLocks noGrp="1"/>
          </p:cNvSpPr>
          <p:nvPr>
            <p:ph idx="1"/>
          </p:nvPr>
        </p:nvSpPr>
        <p:spPr>
          <a:xfrm>
            <a:off x="919119" y="798594"/>
            <a:ext cx="10353762" cy="4058751"/>
          </a:xfrm>
        </p:spPr>
        <p:txBody>
          <a:bodyPr/>
          <a:lstStyle/>
          <a:p>
            <a:r>
              <a:rPr lang="en-US" dirty="0" smtClean="0"/>
              <a:t>For each age group and gender we approximated chances to die by analytical function. We approximated historical data (1990 – 2018) from the datasets mentioned before. In case of death rates we used Logarithm function. Red line is historical data. Yellow line is approximation. The example of approximation for chances to die for females from 40 to 44 years old is below. x = year - 1989</a:t>
            </a:r>
            <a:endParaRPr lang="en-SG" dirty="0"/>
          </a:p>
        </p:txBody>
      </p:sp>
      <p:graphicFrame>
        <p:nvGraphicFramePr>
          <p:cNvPr id="4" name="Chart 3"/>
          <p:cNvGraphicFramePr>
            <a:graphicFrameLocks/>
          </p:cNvGraphicFramePr>
          <p:nvPr>
            <p:extLst>
              <p:ext uri="{D42A27DB-BD31-4B8C-83A1-F6EECF244321}">
                <p14:modId xmlns:p14="http://schemas.microsoft.com/office/powerpoint/2010/main" val="1810753074"/>
              </p:ext>
            </p:extLst>
          </p:nvPr>
        </p:nvGraphicFramePr>
        <p:xfrm>
          <a:off x="0" y="2422188"/>
          <a:ext cx="12192000" cy="44358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07492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372893"/>
            <a:ext cx="10353762" cy="970450"/>
          </a:xfrm>
        </p:spPr>
        <p:txBody>
          <a:bodyPr/>
          <a:lstStyle/>
          <a:p>
            <a:r>
              <a:rPr lang="en-US" dirty="0">
                <a:effectLst>
                  <a:glow rad="101600">
                    <a:schemeClr val="accent1">
                      <a:satMod val="175000"/>
                      <a:alpha val="40000"/>
                    </a:schemeClr>
                  </a:glow>
                  <a:outerShdw blurRad="9525" dist="25400" dir="14640000" algn="tl" rotWithShape="0">
                    <a:schemeClr val="bg1">
                      <a:alpha val="30000"/>
                    </a:schemeClr>
                  </a:outerShdw>
                </a:effectLst>
              </a:rPr>
              <a:t>Approximation of Rates </a:t>
            </a:r>
            <a:r>
              <a:rPr lang="en-US" dirty="0" smtClean="0">
                <a:effectLst>
                  <a:glow rad="101600">
                    <a:schemeClr val="accent1">
                      <a:satMod val="175000"/>
                      <a:alpha val="40000"/>
                    </a:schemeClr>
                  </a:glow>
                  <a:outerShdw blurRad="9525" dist="25400" dir="14640000" algn="tl" rotWithShape="0">
                    <a:schemeClr val="bg1">
                      <a:alpha val="30000"/>
                    </a:schemeClr>
                  </a:outerShdw>
                </a:effectLst>
              </a:rPr>
              <a:t>(birth </a:t>
            </a:r>
            <a:r>
              <a:rPr lang="en-US" dirty="0">
                <a:effectLst>
                  <a:glow rad="101600">
                    <a:schemeClr val="accent1">
                      <a:satMod val="175000"/>
                      <a:alpha val="40000"/>
                    </a:schemeClr>
                  </a:glow>
                  <a:outerShdw blurRad="9525" dist="25400" dir="14640000" algn="tl" rotWithShape="0">
                    <a:schemeClr val="bg1">
                      <a:alpha val="30000"/>
                    </a:schemeClr>
                  </a:outerShdw>
                </a:effectLst>
              </a:rPr>
              <a:t>rates)</a:t>
            </a:r>
            <a:endParaRPr lang="en-SG" dirty="0"/>
          </a:p>
        </p:txBody>
      </p:sp>
      <p:sp>
        <p:nvSpPr>
          <p:cNvPr id="3" name="Content Placeholder 2"/>
          <p:cNvSpPr>
            <a:spLocks noGrp="1"/>
          </p:cNvSpPr>
          <p:nvPr>
            <p:ph idx="1"/>
          </p:nvPr>
        </p:nvSpPr>
        <p:spPr>
          <a:xfrm>
            <a:off x="913795" y="1070968"/>
            <a:ext cx="10353762" cy="4058751"/>
          </a:xfrm>
        </p:spPr>
        <p:txBody>
          <a:bodyPr/>
          <a:lstStyle/>
          <a:p>
            <a:r>
              <a:rPr lang="en-US" dirty="0"/>
              <a:t>For each age group </a:t>
            </a:r>
            <a:r>
              <a:rPr lang="en-US" dirty="0" smtClean="0"/>
              <a:t>of females we </a:t>
            </a:r>
            <a:r>
              <a:rPr lang="en-US" dirty="0"/>
              <a:t>approximated </a:t>
            </a:r>
            <a:r>
              <a:rPr lang="en-US" dirty="0" smtClean="0"/>
              <a:t>chances to born new baby. We approximated historical data (1990 - 2018) by analytical function. </a:t>
            </a:r>
            <a:r>
              <a:rPr lang="en-US" dirty="0"/>
              <a:t>In case of </a:t>
            </a:r>
            <a:r>
              <a:rPr lang="en-US" dirty="0" smtClean="0"/>
              <a:t>birth </a:t>
            </a:r>
            <a:r>
              <a:rPr lang="en-US" dirty="0"/>
              <a:t>rates we used </a:t>
            </a:r>
            <a:r>
              <a:rPr lang="en-US" dirty="0" smtClean="0"/>
              <a:t>Exponential </a:t>
            </a:r>
            <a:r>
              <a:rPr lang="en-US" dirty="0"/>
              <a:t>function. Red line is historical data. Yellow line is approximation. The example of approximation for chances to </a:t>
            </a:r>
            <a:r>
              <a:rPr lang="en-US" dirty="0" smtClean="0"/>
              <a:t>born new baby </a:t>
            </a:r>
            <a:r>
              <a:rPr lang="en-US" dirty="0"/>
              <a:t>for females from </a:t>
            </a:r>
            <a:r>
              <a:rPr lang="en-US" dirty="0" smtClean="0"/>
              <a:t>20 </a:t>
            </a:r>
            <a:r>
              <a:rPr lang="en-US" dirty="0"/>
              <a:t>to </a:t>
            </a:r>
            <a:r>
              <a:rPr lang="en-US" dirty="0" smtClean="0"/>
              <a:t>24 </a:t>
            </a:r>
            <a:r>
              <a:rPr lang="en-US" dirty="0"/>
              <a:t>years old is </a:t>
            </a:r>
            <a:r>
              <a:rPr lang="en-US" dirty="0" smtClean="0"/>
              <a:t>below. x = year - 1989</a:t>
            </a:r>
            <a:endParaRPr lang="en-SG" dirty="0"/>
          </a:p>
          <a:p>
            <a:endParaRPr lang="en-SG" dirty="0"/>
          </a:p>
        </p:txBody>
      </p:sp>
      <p:graphicFrame>
        <p:nvGraphicFramePr>
          <p:cNvPr id="4" name="Chart 3"/>
          <p:cNvGraphicFramePr>
            <a:graphicFrameLocks/>
          </p:cNvGraphicFramePr>
          <p:nvPr>
            <p:extLst>
              <p:ext uri="{D42A27DB-BD31-4B8C-83A1-F6EECF244321}">
                <p14:modId xmlns:p14="http://schemas.microsoft.com/office/powerpoint/2010/main" val="2553678712"/>
              </p:ext>
            </p:extLst>
          </p:nvPr>
        </p:nvGraphicFramePr>
        <p:xfrm>
          <a:off x="0" y="2684834"/>
          <a:ext cx="12192000" cy="417316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771848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333982"/>
            <a:ext cx="10353762" cy="970450"/>
          </a:xfrm>
        </p:spPr>
        <p:txBody>
          <a:bodyPr/>
          <a:lstStyle/>
          <a:p>
            <a:r>
              <a:rPr lang="en-US" dirty="0">
                <a:effectLst>
                  <a:glow rad="101600">
                    <a:schemeClr val="accent1">
                      <a:satMod val="175000"/>
                      <a:alpha val="40000"/>
                    </a:schemeClr>
                  </a:glow>
                  <a:outerShdw blurRad="9525" dist="25400" dir="14640000" algn="tl" rotWithShape="0">
                    <a:schemeClr val="bg1">
                      <a:alpha val="30000"/>
                    </a:schemeClr>
                  </a:outerShdw>
                </a:effectLst>
              </a:rPr>
              <a:t>Approximation of Rates </a:t>
            </a:r>
            <a:r>
              <a:rPr lang="en-US" dirty="0" smtClean="0">
                <a:effectLst>
                  <a:glow rad="101600">
                    <a:schemeClr val="accent1">
                      <a:satMod val="175000"/>
                      <a:alpha val="40000"/>
                    </a:schemeClr>
                  </a:glow>
                  <a:outerShdw blurRad="9525" dist="25400" dir="14640000" algn="tl" rotWithShape="0">
                    <a:schemeClr val="bg1">
                      <a:alpha val="30000"/>
                    </a:schemeClr>
                  </a:outerShdw>
                </a:effectLst>
              </a:rPr>
              <a:t>(marry </a:t>
            </a:r>
            <a:r>
              <a:rPr lang="en-US" dirty="0">
                <a:effectLst>
                  <a:glow rad="101600">
                    <a:schemeClr val="accent1">
                      <a:satMod val="175000"/>
                      <a:alpha val="40000"/>
                    </a:schemeClr>
                  </a:glow>
                  <a:outerShdw blurRad="9525" dist="25400" dir="14640000" algn="tl" rotWithShape="0">
                    <a:schemeClr val="bg1">
                      <a:alpha val="30000"/>
                    </a:schemeClr>
                  </a:outerShdw>
                </a:effectLst>
              </a:rPr>
              <a:t>rates)</a:t>
            </a:r>
            <a:endParaRPr lang="en-SG" dirty="0"/>
          </a:p>
        </p:txBody>
      </p:sp>
      <p:sp>
        <p:nvSpPr>
          <p:cNvPr id="3" name="Content Placeholder 2"/>
          <p:cNvSpPr>
            <a:spLocks noGrp="1"/>
          </p:cNvSpPr>
          <p:nvPr>
            <p:ph idx="1"/>
          </p:nvPr>
        </p:nvSpPr>
        <p:spPr>
          <a:xfrm>
            <a:off x="913795" y="1051513"/>
            <a:ext cx="10353762" cy="4058751"/>
          </a:xfrm>
        </p:spPr>
        <p:txBody>
          <a:bodyPr/>
          <a:lstStyle/>
          <a:p>
            <a:r>
              <a:rPr lang="en-US" dirty="0"/>
              <a:t>For each age group of </a:t>
            </a:r>
            <a:r>
              <a:rPr lang="en-US" dirty="0" smtClean="0"/>
              <a:t>males </a:t>
            </a:r>
            <a:r>
              <a:rPr lang="en-US" dirty="0"/>
              <a:t>we approximated chances to </a:t>
            </a:r>
            <a:r>
              <a:rPr lang="en-US" dirty="0" smtClean="0"/>
              <a:t>marry. </a:t>
            </a:r>
            <a:r>
              <a:rPr lang="en-US" dirty="0"/>
              <a:t>We approximated historical data by analytical function. In case of </a:t>
            </a:r>
            <a:r>
              <a:rPr lang="en-US" dirty="0" smtClean="0"/>
              <a:t>marry </a:t>
            </a:r>
            <a:r>
              <a:rPr lang="en-US" dirty="0"/>
              <a:t>rates we used Exponential function. Red line is historical data. Yellow line is approximation. The example of approximation for chances </a:t>
            </a:r>
            <a:r>
              <a:rPr lang="en-US" dirty="0" smtClean="0"/>
              <a:t>marry for males </a:t>
            </a:r>
            <a:r>
              <a:rPr lang="en-US" dirty="0"/>
              <a:t>from 20 to 24 years old is below</a:t>
            </a:r>
            <a:endParaRPr lang="en-SG" dirty="0"/>
          </a:p>
          <a:p>
            <a:endParaRPr lang="en-SG" dirty="0"/>
          </a:p>
        </p:txBody>
      </p:sp>
      <p:graphicFrame>
        <p:nvGraphicFramePr>
          <p:cNvPr id="4" name="Chart 3"/>
          <p:cNvGraphicFramePr>
            <a:graphicFrameLocks/>
          </p:cNvGraphicFramePr>
          <p:nvPr>
            <p:extLst>
              <p:ext uri="{D42A27DB-BD31-4B8C-83A1-F6EECF244321}">
                <p14:modId xmlns:p14="http://schemas.microsoft.com/office/powerpoint/2010/main" val="1613282988"/>
              </p:ext>
            </p:extLst>
          </p:nvPr>
        </p:nvGraphicFramePr>
        <p:xfrm>
          <a:off x="0" y="2344367"/>
          <a:ext cx="12192000" cy="450110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321092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103761"/>
            <a:ext cx="10353762" cy="970450"/>
          </a:xfrm>
        </p:spPr>
        <p:txBody>
          <a:bodyPr/>
          <a:lstStyle/>
          <a:p>
            <a:r>
              <a:rPr lang="en-US" dirty="0">
                <a:effectLst>
                  <a:glow rad="101600">
                    <a:schemeClr val="accent1">
                      <a:satMod val="175000"/>
                      <a:alpha val="40000"/>
                    </a:schemeClr>
                  </a:glow>
                  <a:outerShdw blurRad="9525" dist="25400" dir="14640000" algn="tl" rotWithShape="0">
                    <a:schemeClr val="bg1">
                      <a:alpha val="30000"/>
                    </a:schemeClr>
                  </a:outerShdw>
                </a:effectLst>
              </a:rPr>
              <a:t>Approximation of Rates </a:t>
            </a:r>
            <a:r>
              <a:rPr lang="en-US" dirty="0" smtClean="0">
                <a:effectLst>
                  <a:glow rad="101600">
                    <a:schemeClr val="accent1">
                      <a:satMod val="175000"/>
                      <a:alpha val="40000"/>
                    </a:schemeClr>
                  </a:glow>
                  <a:outerShdw blurRad="9525" dist="25400" dir="14640000" algn="tl" rotWithShape="0">
                    <a:schemeClr val="bg1">
                      <a:alpha val="30000"/>
                    </a:schemeClr>
                  </a:outerShdw>
                </a:effectLst>
              </a:rPr>
              <a:t>(divorce </a:t>
            </a:r>
            <a:r>
              <a:rPr lang="en-US" dirty="0">
                <a:effectLst>
                  <a:glow rad="101600">
                    <a:schemeClr val="accent1">
                      <a:satMod val="175000"/>
                      <a:alpha val="40000"/>
                    </a:schemeClr>
                  </a:glow>
                  <a:outerShdw blurRad="9525" dist="25400" dir="14640000" algn="tl" rotWithShape="0">
                    <a:schemeClr val="bg1">
                      <a:alpha val="30000"/>
                    </a:schemeClr>
                  </a:outerShdw>
                </a:effectLst>
              </a:rPr>
              <a:t>rates)</a:t>
            </a:r>
            <a:endParaRPr lang="en-SG" dirty="0"/>
          </a:p>
        </p:txBody>
      </p:sp>
      <p:sp>
        <p:nvSpPr>
          <p:cNvPr id="4" name="Content Placeholder 2"/>
          <p:cNvSpPr>
            <a:spLocks noGrp="1"/>
          </p:cNvSpPr>
          <p:nvPr>
            <p:ph idx="1"/>
          </p:nvPr>
        </p:nvSpPr>
        <p:spPr>
          <a:xfrm>
            <a:off x="913795" y="837504"/>
            <a:ext cx="10353762" cy="4058751"/>
          </a:xfrm>
        </p:spPr>
        <p:txBody>
          <a:bodyPr/>
          <a:lstStyle/>
          <a:p>
            <a:r>
              <a:rPr lang="en-US" dirty="0"/>
              <a:t>For each age group of </a:t>
            </a:r>
            <a:r>
              <a:rPr lang="en-US" dirty="0" smtClean="0"/>
              <a:t>males </a:t>
            </a:r>
            <a:r>
              <a:rPr lang="en-US" dirty="0"/>
              <a:t>we approximated chances to </a:t>
            </a:r>
            <a:r>
              <a:rPr lang="en-US" dirty="0" smtClean="0"/>
              <a:t>divorce. </a:t>
            </a:r>
            <a:r>
              <a:rPr lang="en-US" dirty="0"/>
              <a:t>We approximated historical </a:t>
            </a:r>
            <a:r>
              <a:rPr lang="en-US" dirty="0" smtClean="0"/>
              <a:t>data (1990 – 2018) </a:t>
            </a:r>
            <a:r>
              <a:rPr lang="en-US" dirty="0"/>
              <a:t>by analytical function. In case of </a:t>
            </a:r>
            <a:r>
              <a:rPr lang="en-US" dirty="0" smtClean="0"/>
              <a:t>divorce rates </a:t>
            </a:r>
            <a:r>
              <a:rPr lang="en-US" dirty="0"/>
              <a:t>we used </a:t>
            </a:r>
            <a:r>
              <a:rPr lang="en-US" dirty="0" smtClean="0"/>
              <a:t>Logarithm </a:t>
            </a:r>
            <a:r>
              <a:rPr lang="en-US" dirty="0"/>
              <a:t>function. Red line is historical data. Yellow line is approximation. The example of approximation for chances </a:t>
            </a:r>
            <a:r>
              <a:rPr lang="en-US" dirty="0" smtClean="0"/>
              <a:t>marry for males 50 years old and more. x </a:t>
            </a:r>
            <a:r>
              <a:rPr lang="ru-RU" dirty="0" smtClean="0"/>
              <a:t>=</a:t>
            </a:r>
            <a:r>
              <a:rPr lang="en-US" dirty="0" smtClean="0"/>
              <a:t> year - 1989</a:t>
            </a:r>
            <a:endParaRPr lang="en-SG" dirty="0"/>
          </a:p>
          <a:p>
            <a:endParaRPr lang="en-SG" dirty="0"/>
          </a:p>
        </p:txBody>
      </p:sp>
      <p:graphicFrame>
        <p:nvGraphicFramePr>
          <p:cNvPr id="5" name="Chart 4"/>
          <p:cNvGraphicFramePr>
            <a:graphicFrameLocks/>
          </p:cNvGraphicFramePr>
          <p:nvPr>
            <p:extLst>
              <p:ext uri="{D42A27DB-BD31-4B8C-83A1-F6EECF244321}">
                <p14:modId xmlns:p14="http://schemas.microsoft.com/office/powerpoint/2010/main" val="302575541"/>
              </p:ext>
            </p:extLst>
          </p:nvPr>
        </p:nvGraphicFramePr>
        <p:xfrm>
          <a:off x="0" y="2217906"/>
          <a:ext cx="12192000" cy="464009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989454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glow rad="101600">
                    <a:schemeClr val="accent1">
                      <a:satMod val="175000"/>
                      <a:alpha val="40000"/>
                    </a:schemeClr>
                  </a:glow>
                  <a:outerShdw blurRad="9525" dist="25400" dir="14640000" algn="tl" rotWithShape="0">
                    <a:schemeClr val="bg1">
                      <a:alpha val="30000"/>
                    </a:schemeClr>
                  </a:outerShdw>
                </a:effectLst>
              </a:rPr>
              <a:t>Approximation of Rates </a:t>
            </a:r>
            <a:r>
              <a:rPr lang="en-US" dirty="0" smtClean="0">
                <a:effectLst>
                  <a:glow rad="101600">
                    <a:schemeClr val="accent1">
                      <a:satMod val="175000"/>
                      <a:alpha val="40000"/>
                    </a:schemeClr>
                  </a:glow>
                  <a:outerShdw blurRad="9525" dist="25400" dir="14640000" algn="tl" rotWithShape="0">
                    <a:schemeClr val="bg1">
                      <a:alpha val="30000"/>
                    </a:schemeClr>
                  </a:outerShdw>
                </a:effectLst>
              </a:rPr>
              <a:t>(ALL)</a:t>
            </a:r>
            <a:endParaRPr lang="en-SG" dirty="0"/>
          </a:p>
        </p:txBody>
      </p:sp>
      <p:sp>
        <p:nvSpPr>
          <p:cNvPr id="3" name="Content Placeholder 2"/>
          <p:cNvSpPr>
            <a:spLocks noGrp="1"/>
          </p:cNvSpPr>
          <p:nvPr>
            <p:ph idx="1"/>
          </p:nvPr>
        </p:nvSpPr>
        <p:spPr/>
        <p:txBody>
          <a:bodyPr/>
          <a:lstStyle/>
          <a:p>
            <a:r>
              <a:rPr lang="en-US" dirty="0" smtClean="0"/>
              <a:t>TODO: Add link to see all approximations</a:t>
            </a:r>
            <a:endParaRPr lang="en-SG" dirty="0"/>
          </a:p>
        </p:txBody>
      </p:sp>
    </p:spTree>
    <p:extLst>
      <p:ext uri="{BB962C8B-B14F-4D97-AF65-F5344CB8AC3E}">
        <p14:creationId xmlns:p14="http://schemas.microsoft.com/office/powerpoint/2010/main" val="41062563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0"/>
            <a:ext cx="10353762" cy="970450"/>
          </a:xfrm>
        </p:spPr>
        <p:txBody>
          <a:bodyPr/>
          <a:lstStyle/>
          <a:p>
            <a:r>
              <a:rPr lang="en-US" dirty="0">
                <a:effectLst>
                  <a:glow rad="101600">
                    <a:schemeClr val="accent1">
                      <a:satMod val="175000"/>
                      <a:alpha val="40000"/>
                    </a:schemeClr>
                  </a:glow>
                  <a:outerShdw blurRad="9525" dist="25400" dir="14640000" algn="tl" rotWithShape="0">
                    <a:schemeClr val="bg1">
                      <a:alpha val="30000"/>
                    </a:schemeClr>
                  </a:outerShdw>
                </a:effectLst>
              </a:rPr>
              <a:t>Approximation of </a:t>
            </a:r>
            <a:r>
              <a:rPr lang="en-US" dirty="0" smtClean="0">
                <a:effectLst>
                  <a:glow rad="101600">
                    <a:schemeClr val="accent1">
                      <a:satMod val="175000"/>
                      <a:alpha val="40000"/>
                    </a:schemeClr>
                  </a:glow>
                  <a:outerShdw blurRad="9525" dist="25400" dir="14640000" algn="tl" rotWithShape="0">
                    <a:schemeClr val="bg1">
                      <a:alpha val="30000"/>
                    </a:schemeClr>
                  </a:outerShdw>
                </a:effectLst>
              </a:rPr>
              <a:t>Non-Residents</a:t>
            </a:r>
            <a:endParaRPr lang="en-SG" dirty="0"/>
          </a:p>
        </p:txBody>
      </p:sp>
      <p:graphicFrame>
        <p:nvGraphicFramePr>
          <p:cNvPr id="4" name="Chart 3"/>
          <p:cNvGraphicFramePr>
            <a:graphicFrameLocks/>
          </p:cNvGraphicFramePr>
          <p:nvPr>
            <p:extLst>
              <p:ext uri="{D42A27DB-BD31-4B8C-83A1-F6EECF244321}">
                <p14:modId xmlns:p14="http://schemas.microsoft.com/office/powerpoint/2010/main" val="765434114"/>
              </p:ext>
            </p:extLst>
          </p:nvPr>
        </p:nvGraphicFramePr>
        <p:xfrm>
          <a:off x="913795" y="1463318"/>
          <a:ext cx="10353762" cy="532658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3326860" y="1032218"/>
            <a:ext cx="5338321" cy="369332"/>
          </a:xfrm>
          <a:prstGeom prst="rect">
            <a:avLst/>
          </a:prstGeom>
          <a:noFill/>
        </p:spPr>
        <p:txBody>
          <a:bodyPr wrap="none" rtlCol="0">
            <a:spAutoFit/>
          </a:bodyPr>
          <a:lstStyle/>
          <a:p>
            <a:r>
              <a:rPr lang="en-US" dirty="0" smtClean="0"/>
              <a:t>F(x) = (51786x + 189821)(0.96 + sin(0.15x +0.1))</a:t>
            </a:r>
            <a:endParaRPr lang="en-SG" dirty="0"/>
          </a:p>
        </p:txBody>
      </p:sp>
    </p:spTree>
    <p:extLst>
      <p:ext uri="{BB962C8B-B14F-4D97-AF65-F5344CB8AC3E}">
        <p14:creationId xmlns:p14="http://schemas.microsoft.com/office/powerpoint/2010/main" val="32336418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glow rad="101600">
                    <a:schemeClr val="accent1">
                      <a:satMod val="175000"/>
                      <a:alpha val="40000"/>
                    </a:schemeClr>
                  </a:glow>
                  <a:outerShdw blurRad="9525" dist="25400" dir="14640000" algn="tl" rotWithShape="0">
                    <a:schemeClr val="bg1">
                      <a:alpha val="30000"/>
                    </a:schemeClr>
                  </a:outerShdw>
                </a:effectLst>
              </a:rPr>
              <a:t>The </a:t>
            </a:r>
            <a:r>
              <a:rPr lang="en-US" dirty="0" smtClean="0">
                <a:effectLst>
                  <a:glow rad="101600">
                    <a:schemeClr val="accent1">
                      <a:satMod val="175000"/>
                      <a:alpha val="40000"/>
                    </a:schemeClr>
                  </a:glow>
                  <a:outerShdw blurRad="9525" dist="25400" dir="14640000" algn="tl" rotWithShape="0">
                    <a:schemeClr val="bg1">
                      <a:alpha val="30000"/>
                    </a:schemeClr>
                  </a:outerShdw>
                </a:effectLst>
              </a:rPr>
              <a:t>events</a:t>
            </a:r>
            <a:endParaRPr lang="en-SG" dirty="0">
              <a:effectLst>
                <a:glow rad="101600">
                  <a:schemeClr val="accent1">
                    <a:satMod val="175000"/>
                    <a:alpha val="40000"/>
                  </a:schemeClr>
                </a:glow>
                <a:outerShdw blurRad="9525" dist="25400" dir="14640000" algn="tl" rotWithShape="0">
                  <a:schemeClr val="bg1">
                    <a:alpha val="30000"/>
                  </a:schemeClr>
                </a:outerShdw>
              </a:effectLst>
            </a:endParaRPr>
          </a:p>
        </p:txBody>
      </p:sp>
      <p:sp>
        <p:nvSpPr>
          <p:cNvPr id="3" name="Content Placeholder 2"/>
          <p:cNvSpPr>
            <a:spLocks noGrp="1"/>
          </p:cNvSpPr>
          <p:nvPr>
            <p:ph idx="1"/>
          </p:nvPr>
        </p:nvSpPr>
        <p:spPr/>
        <p:txBody>
          <a:bodyPr>
            <a:normAutofit fontScale="85000" lnSpcReduction="20000"/>
          </a:bodyPr>
          <a:lstStyle/>
          <a:p>
            <a:r>
              <a:rPr lang="en-US" dirty="0" smtClean="0"/>
              <a:t>Each year some events can occur with agents. Each event has probability to be occurred. It depends on year, age, gender and so on. Simulation starts from 1990</a:t>
            </a:r>
          </a:p>
          <a:p>
            <a:r>
              <a:rPr lang="en-US" dirty="0" smtClean="0"/>
              <a:t>Events: </a:t>
            </a:r>
          </a:p>
          <a:p>
            <a:pPr marL="494100" indent="-457200">
              <a:buFont typeface="+mj-lt"/>
              <a:buAutoNum type="arabicPeriod"/>
            </a:pPr>
            <a:r>
              <a:rPr lang="en-US" dirty="0" smtClean="0"/>
              <a:t>Die (All, Gender,  Age, Year): Got from approximating functions.</a:t>
            </a:r>
          </a:p>
          <a:p>
            <a:pPr marL="494100" indent="-457200">
              <a:buFont typeface="+mj-lt"/>
              <a:buAutoNum type="arabicPeriod"/>
            </a:pPr>
            <a:r>
              <a:rPr lang="en-US" dirty="0" smtClean="0"/>
              <a:t>Born new child (women only, Age, Year): Got from approximating function </a:t>
            </a:r>
          </a:p>
          <a:p>
            <a:pPr marL="494100" indent="-457200">
              <a:buFont typeface="+mj-lt"/>
              <a:buAutoNum type="arabicPeriod"/>
            </a:pPr>
            <a:r>
              <a:rPr lang="en-US" dirty="0" smtClean="0"/>
              <a:t>Celebrate birthday (All): Just Add 1 to Age</a:t>
            </a:r>
          </a:p>
          <a:p>
            <a:pPr marL="494100" indent="-457200">
              <a:buFont typeface="+mj-lt"/>
              <a:buAutoNum type="arabicPeriod"/>
            </a:pPr>
            <a:r>
              <a:rPr lang="en-US" dirty="0" smtClean="0"/>
              <a:t>Become PR (non-residents only, Year): Got from approximating function</a:t>
            </a:r>
          </a:p>
          <a:p>
            <a:pPr marL="494100" indent="-457200">
              <a:buFont typeface="+mj-lt"/>
              <a:buAutoNum type="arabicPeriod"/>
            </a:pPr>
            <a:r>
              <a:rPr lang="en-US" dirty="0" smtClean="0"/>
              <a:t>Marry (men only, Age, Year): Got from approximation function</a:t>
            </a:r>
          </a:p>
          <a:p>
            <a:pPr marL="494100" indent="-457200">
              <a:buFont typeface="+mj-lt"/>
              <a:buAutoNum type="arabicPeriod"/>
            </a:pPr>
            <a:r>
              <a:rPr lang="en-US" dirty="0" smtClean="0"/>
              <a:t>Divorce (men only, Age, Year): Got from approximation function</a:t>
            </a:r>
          </a:p>
          <a:p>
            <a:pPr marL="494100" indent="-457200">
              <a:buFont typeface="+mj-lt"/>
              <a:buAutoNum type="arabicPeriod"/>
            </a:pPr>
            <a:r>
              <a:rPr lang="en-US" dirty="0" smtClean="0"/>
              <a:t>Move into Singapore (if current non-residents &lt; approximation non-residents, Year): Got rom approximation function </a:t>
            </a:r>
          </a:p>
          <a:p>
            <a:pPr marL="494100" indent="-457200">
              <a:buFont typeface="+mj-lt"/>
              <a:buAutoNum type="arabicPeriod"/>
            </a:pPr>
            <a:r>
              <a:rPr lang="en-US" dirty="0" smtClean="0"/>
              <a:t>Move out of Singapore (if current non-residents &gt; approximation non-residents, Year): Got from approximation function</a:t>
            </a:r>
          </a:p>
          <a:p>
            <a:endParaRPr lang="en-SG" dirty="0"/>
          </a:p>
        </p:txBody>
      </p:sp>
    </p:spTree>
    <p:extLst>
      <p:ext uri="{BB962C8B-B14F-4D97-AF65-F5344CB8AC3E}">
        <p14:creationId xmlns:p14="http://schemas.microsoft.com/office/powerpoint/2010/main" val="40601676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glow rad="139700">
                    <a:schemeClr val="accent1">
                      <a:satMod val="175000"/>
                      <a:alpha val="40000"/>
                    </a:schemeClr>
                  </a:glow>
                  <a:outerShdw blurRad="9525" dist="25400" dir="14640000" algn="tl" rotWithShape="0">
                    <a:schemeClr val="bg1">
                      <a:alpha val="30000"/>
                    </a:schemeClr>
                  </a:outerShdw>
                </a:effectLst>
              </a:rPr>
              <a:t>Simulation</a:t>
            </a:r>
            <a:endParaRPr lang="en-SG" dirty="0">
              <a:effectLst>
                <a:glow rad="139700">
                  <a:schemeClr val="accent1">
                    <a:satMod val="175000"/>
                    <a:alpha val="40000"/>
                  </a:schemeClr>
                </a:glow>
                <a:outerShdw blurRad="9525" dist="25400" dir="14640000" algn="tl" rotWithShape="0">
                  <a:schemeClr val="bg1">
                    <a:alpha val="30000"/>
                  </a:schemeClr>
                </a:outerShdw>
              </a:effectLst>
            </a:endParaRPr>
          </a:p>
        </p:txBody>
      </p:sp>
      <p:graphicFrame>
        <p:nvGraphicFramePr>
          <p:cNvPr id="6" name="Chart 5"/>
          <p:cNvGraphicFramePr>
            <a:graphicFrameLocks/>
          </p:cNvGraphicFramePr>
          <p:nvPr>
            <p:extLst>
              <p:ext uri="{D42A27DB-BD31-4B8C-83A1-F6EECF244321}">
                <p14:modId xmlns:p14="http://schemas.microsoft.com/office/powerpoint/2010/main" val="2878958336"/>
              </p:ext>
            </p:extLst>
          </p:nvPr>
        </p:nvGraphicFramePr>
        <p:xfrm>
          <a:off x="577606" y="1580050"/>
          <a:ext cx="11026140" cy="51435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434979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ffectLst>
            <a:glow rad="139700">
              <a:schemeClr val="accent1">
                <a:satMod val="175000"/>
                <a:alpha val="40000"/>
              </a:schemeClr>
            </a:glow>
            <a:outerShdw blurRad="25400" dir="17880000">
              <a:srgbClr val="000000">
                <a:alpha val="46000"/>
              </a:srgbClr>
            </a:outerShdw>
          </a:effectLst>
        </p:spPr>
        <p:txBody>
          <a:bodyPr/>
          <a:lstStyle/>
          <a:p>
            <a:r>
              <a:rPr lang="en-US" dirty="0" smtClean="0">
                <a:effectLst>
                  <a:glow rad="139700">
                    <a:schemeClr val="accent1">
                      <a:satMod val="175000"/>
                      <a:alpha val="40000"/>
                    </a:schemeClr>
                  </a:glow>
                  <a:outerShdw blurRad="9525" dist="25400" dir="14640000" algn="tl" rotWithShape="0">
                    <a:schemeClr val="bg1">
                      <a:alpha val="30000"/>
                    </a:schemeClr>
                  </a:outerShdw>
                </a:effectLst>
              </a:rPr>
              <a:t>Simulation</a:t>
            </a:r>
            <a:endParaRPr lang="en-SG" dirty="0">
              <a:effectLst>
                <a:glow rad="139700">
                  <a:schemeClr val="accent1">
                    <a:satMod val="175000"/>
                    <a:alpha val="40000"/>
                  </a:schemeClr>
                </a:glow>
                <a:outerShdw blurRad="9525" dist="25400" dir="14640000" algn="tl" rotWithShape="0">
                  <a:schemeClr val="bg1">
                    <a:alpha val="30000"/>
                  </a:schemeClr>
                </a:outerShdw>
              </a:effectLst>
            </a:endParaRPr>
          </a:p>
        </p:txBody>
      </p:sp>
      <p:graphicFrame>
        <p:nvGraphicFramePr>
          <p:cNvPr id="4" name="Chart 3"/>
          <p:cNvGraphicFramePr>
            <a:graphicFrameLocks/>
          </p:cNvGraphicFramePr>
          <p:nvPr>
            <p:extLst>
              <p:ext uri="{D42A27DB-BD31-4B8C-83A1-F6EECF244321}">
                <p14:modId xmlns:p14="http://schemas.microsoft.com/office/powerpoint/2010/main" val="1042261431"/>
              </p:ext>
            </p:extLst>
          </p:nvPr>
        </p:nvGraphicFramePr>
        <p:xfrm>
          <a:off x="913795" y="1580050"/>
          <a:ext cx="10485120" cy="51435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536626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glow rad="139700">
                    <a:schemeClr val="accent1">
                      <a:satMod val="175000"/>
                      <a:alpha val="40000"/>
                    </a:schemeClr>
                  </a:glow>
                  <a:outerShdw blurRad="9525" dist="25400" dir="14640000" algn="tl" rotWithShape="0">
                    <a:schemeClr val="bg1">
                      <a:alpha val="30000"/>
                    </a:schemeClr>
                  </a:outerShdw>
                </a:effectLst>
              </a:rPr>
              <a:t>Simulation</a:t>
            </a:r>
            <a:endParaRPr lang="en-SG" dirty="0">
              <a:effectLst>
                <a:glow rad="139700">
                  <a:schemeClr val="accent1">
                    <a:satMod val="175000"/>
                    <a:alpha val="40000"/>
                  </a:schemeClr>
                </a:glow>
                <a:outerShdw blurRad="9525" dist="25400" dir="14640000" algn="tl" rotWithShape="0">
                  <a:schemeClr val="bg1">
                    <a:alpha val="30000"/>
                  </a:schemeClr>
                </a:outerShdw>
              </a:effectLst>
            </a:endParaRPr>
          </a:p>
        </p:txBody>
      </p:sp>
      <p:graphicFrame>
        <p:nvGraphicFramePr>
          <p:cNvPr id="4" name="Chart 3"/>
          <p:cNvGraphicFramePr>
            <a:graphicFrameLocks/>
          </p:cNvGraphicFramePr>
          <p:nvPr>
            <p:extLst>
              <p:ext uri="{D42A27DB-BD31-4B8C-83A1-F6EECF244321}">
                <p14:modId xmlns:p14="http://schemas.microsoft.com/office/powerpoint/2010/main" val="2943133985"/>
              </p:ext>
            </p:extLst>
          </p:nvPr>
        </p:nvGraphicFramePr>
        <p:xfrm>
          <a:off x="496111" y="1322962"/>
          <a:ext cx="11245174" cy="553503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032675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glow rad="139700">
                    <a:schemeClr val="accent1">
                      <a:satMod val="175000"/>
                      <a:alpha val="40000"/>
                    </a:schemeClr>
                  </a:glow>
                  <a:outerShdw blurRad="9525" dist="25400" dir="14640000" algn="tl" rotWithShape="0">
                    <a:schemeClr val="bg1">
                      <a:alpha val="30000"/>
                    </a:schemeClr>
                  </a:outerShdw>
                </a:effectLst>
              </a:rPr>
              <a:t>Simulation</a:t>
            </a:r>
            <a:endParaRPr lang="en-SG" dirty="0">
              <a:effectLst>
                <a:glow rad="139700">
                  <a:schemeClr val="accent1">
                    <a:satMod val="175000"/>
                    <a:alpha val="40000"/>
                  </a:schemeClr>
                </a:glow>
                <a:outerShdw blurRad="9525" dist="25400" dir="14640000" algn="tl" rotWithShape="0">
                  <a:schemeClr val="bg1">
                    <a:alpha val="30000"/>
                  </a:schemeClr>
                </a:outerShdw>
              </a:effectLst>
            </a:endParaRPr>
          </a:p>
        </p:txBody>
      </p:sp>
      <p:graphicFrame>
        <p:nvGraphicFramePr>
          <p:cNvPr id="4" name="Chart 3"/>
          <p:cNvGraphicFramePr>
            <a:graphicFrameLocks/>
          </p:cNvGraphicFramePr>
          <p:nvPr>
            <p:extLst>
              <p:ext uri="{D42A27DB-BD31-4B8C-83A1-F6EECF244321}">
                <p14:modId xmlns:p14="http://schemas.microsoft.com/office/powerpoint/2010/main" val="4073767592"/>
              </p:ext>
            </p:extLst>
          </p:nvPr>
        </p:nvGraphicFramePr>
        <p:xfrm>
          <a:off x="913795" y="1580050"/>
          <a:ext cx="10353761" cy="509016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6466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glow rad="139700">
                    <a:schemeClr val="accent1">
                      <a:satMod val="175000"/>
                      <a:alpha val="40000"/>
                    </a:schemeClr>
                  </a:glow>
                  <a:outerShdw blurRad="9525" dist="25400" dir="14640000" algn="tl" rotWithShape="0">
                    <a:schemeClr val="bg1">
                      <a:alpha val="30000"/>
                    </a:schemeClr>
                  </a:outerShdw>
                </a:effectLst>
              </a:rPr>
              <a:t>Simulation</a:t>
            </a:r>
            <a:endParaRPr lang="en-SG" dirty="0">
              <a:effectLst>
                <a:glow rad="139700">
                  <a:schemeClr val="accent1">
                    <a:satMod val="175000"/>
                    <a:alpha val="40000"/>
                  </a:schemeClr>
                </a:glow>
                <a:outerShdw blurRad="9525" dist="25400" dir="14640000" algn="tl" rotWithShape="0">
                  <a:schemeClr val="bg1">
                    <a:alpha val="30000"/>
                  </a:schemeClr>
                </a:outerShdw>
              </a:effectLst>
            </a:endParaRPr>
          </a:p>
        </p:txBody>
      </p:sp>
      <p:graphicFrame>
        <p:nvGraphicFramePr>
          <p:cNvPr id="4" name="Chart 3"/>
          <p:cNvGraphicFramePr>
            <a:graphicFrameLocks/>
          </p:cNvGraphicFramePr>
          <p:nvPr>
            <p:extLst>
              <p:ext uri="{D42A27DB-BD31-4B8C-83A1-F6EECF244321}">
                <p14:modId xmlns:p14="http://schemas.microsoft.com/office/powerpoint/2010/main" val="3729383813"/>
              </p:ext>
            </p:extLst>
          </p:nvPr>
        </p:nvGraphicFramePr>
        <p:xfrm>
          <a:off x="756676" y="1320287"/>
          <a:ext cx="10668000" cy="53263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341469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glow rad="139700">
                    <a:schemeClr val="accent1">
                      <a:satMod val="175000"/>
                      <a:alpha val="40000"/>
                    </a:schemeClr>
                  </a:glow>
                  <a:outerShdw blurRad="9525" dist="25400" dir="14640000" algn="tl" rotWithShape="0">
                    <a:schemeClr val="bg1">
                      <a:alpha val="30000"/>
                    </a:schemeClr>
                  </a:outerShdw>
                </a:effectLst>
              </a:rPr>
              <a:t>Simulation</a:t>
            </a:r>
            <a:endParaRPr lang="en-SG" dirty="0"/>
          </a:p>
        </p:txBody>
      </p:sp>
      <p:graphicFrame>
        <p:nvGraphicFramePr>
          <p:cNvPr id="4" name="Chart 3"/>
          <p:cNvGraphicFramePr>
            <a:graphicFrameLocks/>
          </p:cNvGraphicFramePr>
          <p:nvPr>
            <p:extLst>
              <p:ext uri="{D42A27DB-BD31-4B8C-83A1-F6EECF244321}">
                <p14:modId xmlns:p14="http://schemas.microsoft.com/office/powerpoint/2010/main" val="3676463527"/>
              </p:ext>
            </p:extLst>
          </p:nvPr>
        </p:nvGraphicFramePr>
        <p:xfrm>
          <a:off x="1236736" y="1361305"/>
          <a:ext cx="9707880" cy="53416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27315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glow rad="139700">
                    <a:schemeClr val="accent1">
                      <a:satMod val="175000"/>
                      <a:alpha val="40000"/>
                    </a:schemeClr>
                  </a:glow>
                  <a:outerShdw blurRad="9525" dist="25400" dir="14640000" algn="tl" rotWithShape="0">
                    <a:schemeClr val="bg1">
                      <a:alpha val="30000"/>
                    </a:schemeClr>
                  </a:outerShdw>
                </a:effectLst>
              </a:rPr>
              <a:t>Simulation</a:t>
            </a:r>
            <a:endParaRPr lang="en-SG" dirty="0"/>
          </a:p>
        </p:txBody>
      </p:sp>
      <p:graphicFrame>
        <p:nvGraphicFramePr>
          <p:cNvPr id="4" name="Chart 3"/>
          <p:cNvGraphicFramePr>
            <a:graphicFrameLocks/>
          </p:cNvGraphicFramePr>
          <p:nvPr>
            <p:extLst>
              <p:ext uri="{D42A27DB-BD31-4B8C-83A1-F6EECF244321}">
                <p14:modId xmlns:p14="http://schemas.microsoft.com/office/powerpoint/2010/main" val="2390740646"/>
              </p:ext>
            </p:extLst>
          </p:nvPr>
        </p:nvGraphicFramePr>
        <p:xfrm>
          <a:off x="913795" y="1342417"/>
          <a:ext cx="10353761" cy="557070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16974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glow rad="139700">
                    <a:schemeClr val="accent1">
                      <a:satMod val="175000"/>
                      <a:alpha val="40000"/>
                    </a:schemeClr>
                  </a:glow>
                  <a:outerShdw blurRad="9525" dist="25400" dir="14640000" algn="tl" rotWithShape="0">
                    <a:schemeClr val="bg1">
                      <a:alpha val="30000"/>
                    </a:schemeClr>
                  </a:outerShdw>
                </a:effectLst>
              </a:rPr>
              <a:t>Simulation</a:t>
            </a:r>
            <a:endParaRPr lang="en-SG" dirty="0"/>
          </a:p>
        </p:txBody>
      </p:sp>
      <p:graphicFrame>
        <p:nvGraphicFramePr>
          <p:cNvPr id="5" name="Chart 4"/>
          <p:cNvGraphicFramePr>
            <a:graphicFrameLocks/>
          </p:cNvGraphicFramePr>
          <p:nvPr>
            <p:extLst>
              <p:ext uri="{D42A27DB-BD31-4B8C-83A1-F6EECF244321}">
                <p14:modId xmlns:p14="http://schemas.microsoft.com/office/powerpoint/2010/main" val="2802079973"/>
              </p:ext>
            </p:extLst>
          </p:nvPr>
        </p:nvGraphicFramePr>
        <p:xfrm>
          <a:off x="569306" y="1375986"/>
          <a:ext cx="11262476" cy="536655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84760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glow rad="139700">
                    <a:schemeClr val="accent1">
                      <a:satMod val="175000"/>
                      <a:alpha val="40000"/>
                    </a:schemeClr>
                  </a:glow>
                  <a:outerShdw blurRad="9525" dist="25400" dir="14640000" algn="tl" rotWithShape="0">
                    <a:schemeClr val="bg1">
                      <a:alpha val="30000"/>
                    </a:schemeClr>
                  </a:outerShdw>
                </a:effectLst>
              </a:rPr>
              <a:t>Simulation</a:t>
            </a:r>
            <a:endParaRPr lang="en-SG" dirty="0"/>
          </a:p>
        </p:txBody>
      </p:sp>
      <p:graphicFrame>
        <p:nvGraphicFramePr>
          <p:cNvPr id="5" name="Chart 4"/>
          <p:cNvGraphicFramePr>
            <a:graphicFrameLocks/>
          </p:cNvGraphicFramePr>
          <p:nvPr>
            <p:extLst>
              <p:ext uri="{D42A27DB-BD31-4B8C-83A1-F6EECF244321}">
                <p14:modId xmlns:p14="http://schemas.microsoft.com/office/powerpoint/2010/main" val="3579199925"/>
              </p:ext>
            </p:extLst>
          </p:nvPr>
        </p:nvGraphicFramePr>
        <p:xfrm>
          <a:off x="1372372" y="1325135"/>
          <a:ext cx="9692640" cy="532255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97702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glow rad="139700">
                    <a:schemeClr val="accent1">
                      <a:satMod val="175000"/>
                      <a:alpha val="40000"/>
                    </a:schemeClr>
                  </a:glow>
                  <a:outerShdw blurRad="9525" dist="25400" dir="14640000" algn="tl" rotWithShape="0">
                    <a:schemeClr val="bg1">
                      <a:alpha val="30000"/>
                    </a:schemeClr>
                  </a:outerShdw>
                </a:effectLst>
              </a:rPr>
              <a:t>Simulation</a:t>
            </a:r>
            <a:endParaRPr lang="en-SG" dirty="0"/>
          </a:p>
        </p:txBody>
      </p:sp>
      <p:graphicFrame>
        <p:nvGraphicFramePr>
          <p:cNvPr id="4" name="Chart 3"/>
          <p:cNvGraphicFramePr>
            <a:graphicFrameLocks/>
          </p:cNvGraphicFramePr>
          <p:nvPr>
            <p:extLst>
              <p:ext uri="{D42A27DB-BD31-4B8C-83A1-F6EECF244321}">
                <p14:modId xmlns:p14="http://schemas.microsoft.com/office/powerpoint/2010/main" val="31334234"/>
              </p:ext>
            </p:extLst>
          </p:nvPr>
        </p:nvGraphicFramePr>
        <p:xfrm>
          <a:off x="913795" y="1394460"/>
          <a:ext cx="10353761" cy="546354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638631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glow rad="139700">
                    <a:schemeClr val="accent1">
                      <a:satMod val="175000"/>
                      <a:alpha val="40000"/>
                    </a:schemeClr>
                  </a:glow>
                  <a:outerShdw blurRad="9525" dist="25400" dir="14640000" algn="tl" rotWithShape="0">
                    <a:schemeClr val="bg1">
                      <a:alpha val="30000"/>
                    </a:schemeClr>
                  </a:outerShdw>
                </a:effectLst>
              </a:rPr>
              <a:t>Simulation</a:t>
            </a:r>
            <a:endParaRPr lang="en-SG" dirty="0"/>
          </a:p>
        </p:txBody>
      </p:sp>
      <p:graphicFrame>
        <p:nvGraphicFramePr>
          <p:cNvPr id="4" name="Chart 3"/>
          <p:cNvGraphicFramePr>
            <a:graphicFrameLocks/>
          </p:cNvGraphicFramePr>
          <p:nvPr>
            <p:extLst>
              <p:ext uri="{D42A27DB-BD31-4B8C-83A1-F6EECF244321}">
                <p14:modId xmlns:p14="http://schemas.microsoft.com/office/powerpoint/2010/main" val="2391253338"/>
              </p:ext>
            </p:extLst>
          </p:nvPr>
        </p:nvGraphicFramePr>
        <p:xfrm>
          <a:off x="913795" y="1367547"/>
          <a:ext cx="10353761" cy="54483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551781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glow rad="139700">
                    <a:schemeClr val="accent1">
                      <a:satMod val="175000"/>
                      <a:alpha val="40000"/>
                    </a:schemeClr>
                  </a:glow>
                  <a:outerShdw blurRad="9525" dist="25400" dir="14640000" algn="tl" rotWithShape="0">
                    <a:schemeClr val="bg1">
                      <a:alpha val="30000"/>
                    </a:schemeClr>
                  </a:outerShdw>
                </a:effectLst>
              </a:rPr>
              <a:t>Simulation</a:t>
            </a:r>
            <a:endParaRPr lang="en-SG" dirty="0"/>
          </a:p>
        </p:txBody>
      </p:sp>
      <p:graphicFrame>
        <p:nvGraphicFramePr>
          <p:cNvPr id="5" name="Chart 4"/>
          <p:cNvGraphicFramePr>
            <a:graphicFrameLocks/>
          </p:cNvGraphicFramePr>
          <p:nvPr>
            <p:extLst>
              <p:ext uri="{D42A27DB-BD31-4B8C-83A1-F6EECF244321}">
                <p14:modId xmlns:p14="http://schemas.microsoft.com/office/powerpoint/2010/main" val="3544451386"/>
              </p:ext>
            </p:extLst>
          </p:nvPr>
        </p:nvGraphicFramePr>
        <p:xfrm>
          <a:off x="913795" y="1337634"/>
          <a:ext cx="10317480" cy="531114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541636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glow rad="139700">
                    <a:schemeClr val="accent1">
                      <a:satMod val="175000"/>
                      <a:alpha val="40000"/>
                    </a:schemeClr>
                  </a:glow>
                  <a:outerShdw blurRad="9525" dist="25400" dir="14640000" algn="tl" rotWithShape="0">
                    <a:schemeClr val="bg1">
                      <a:alpha val="30000"/>
                    </a:schemeClr>
                  </a:outerShdw>
                </a:effectLst>
              </a:rPr>
              <a:t>Simulation</a:t>
            </a:r>
            <a:endParaRPr lang="en-SG" dirty="0"/>
          </a:p>
        </p:txBody>
      </p:sp>
      <p:graphicFrame>
        <p:nvGraphicFramePr>
          <p:cNvPr id="5" name="Chart 4"/>
          <p:cNvGraphicFramePr>
            <a:graphicFrameLocks/>
          </p:cNvGraphicFramePr>
          <p:nvPr>
            <p:extLst>
              <p:ext uri="{D42A27DB-BD31-4B8C-83A1-F6EECF244321}">
                <p14:modId xmlns:p14="http://schemas.microsoft.com/office/powerpoint/2010/main" val="1678753246"/>
              </p:ext>
            </p:extLst>
          </p:nvPr>
        </p:nvGraphicFramePr>
        <p:xfrm>
          <a:off x="505839" y="1275377"/>
          <a:ext cx="11070076" cy="54940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669131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glow rad="139700">
                    <a:schemeClr val="accent1">
                      <a:satMod val="175000"/>
                      <a:alpha val="40000"/>
                    </a:schemeClr>
                  </a:glow>
                  <a:outerShdw blurRad="9525" dist="25400" dir="14640000" algn="tl" rotWithShape="0">
                    <a:schemeClr val="bg1">
                      <a:alpha val="30000"/>
                    </a:schemeClr>
                  </a:outerShdw>
                </a:effectLst>
              </a:rPr>
              <a:t>Simulation</a:t>
            </a:r>
            <a:endParaRPr lang="en-SG" dirty="0"/>
          </a:p>
        </p:txBody>
      </p:sp>
      <p:graphicFrame>
        <p:nvGraphicFramePr>
          <p:cNvPr id="4" name="Chart 3"/>
          <p:cNvGraphicFramePr>
            <a:graphicFrameLocks/>
          </p:cNvGraphicFramePr>
          <p:nvPr>
            <p:extLst>
              <p:ext uri="{D42A27DB-BD31-4B8C-83A1-F6EECF244321}">
                <p14:modId xmlns:p14="http://schemas.microsoft.com/office/powerpoint/2010/main" val="2508062721"/>
              </p:ext>
            </p:extLst>
          </p:nvPr>
        </p:nvGraphicFramePr>
        <p:xfrm>
          <a:off x="913795" y="1432560"/>
          <a:ext cx="10353761" cy="542544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073439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glow rad="139700">
                    <a:schemeClr val="accent1">
                      <a:satMod val="175000"/>
                      <a:alpha val="40000"/>
                    </a:schemeClr>
                  </a:glow>
                  <a:outerShdw blurRad="9525" dist="25400" dir="14640000" algn="tl" rotWithShape="0">
                    <a:schemeClr val="bg1">
                      <a:alpha val="30000"/>
                    </a:schemeClr>
                  </a:outerShdw>
                </a:effectLst>
              </a:rPr>
              <a:t>Simulation</a:t>
            </a:r>
            <a:endParaRPr lang="en-SG" dirty="0"/>
          </a:p>
        </p:txBody>
      </p:sp>
      <p:graphicFrame>
        <p:nvGraphicFramePr>
          <p:cNvPr id="4" name="Chart 3"/>
          <p:cNvGraphicFramePr>
            <a:graphicFrameLocks/>
          </p:cNvGraphicFramePr>
          <p:nvPr>
            <p:extLst>
              <p:ext uri="{D42A27DB-BD31-4B8C-83A1-F6EECF244321}">
                <p14:modId xmlns:p14="http://schemas.microsoft.com/office/powerpoint/2010/main" val="1443491507"/>
              </p:ext>
            </p:extLst>
          </p:nvPr>
        </p:nvGraphicFramePr>
        <p:xfrm>
          <a:off x="783346" y="1298643"/>
          <a:ext cx="10614660" cy="5486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0257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glow rad="139700">
                    <a:schemeClr val="accent1">
                      <a:satMod val="175000"/>
                      <a:alpha val="40000"/>
                    </a:schemeClr>
                  </a:glow>
                  <a:outerShdw blurRad="9525" dist="25400" dir="14640000" algn="tl" rotWithShape="0">
                    <a:schemeClr val="bg1">
                      <a:alpha val="30000"/>
                    </a:schemeClr>
                  </a:outerShdw>
                </a:effectLst>
              </a:rPr>
              <a:t>Current State</a:t>
            </a:r>
            <a:endParaRPr lang="en-SG" dirty="0">
              <a:effectLst>
                <a:glow rad="139700">
                  <a:schemeClr val="accent1">
                    <a:satMod val="175000"/>
                    <a:alpha val="40000"/>
                  </a:schemeClr>
                </a:glow>
                <a:outerShdw blurRad="9525" dist="25400" dir="14640000" algn="tl" rotWithShape="0">
                  <a:schemeClr val="bg1">
                    <a:alpha val="30000"/>
                  </a:schemeClr>
                </a:outerShdw>
              </a:effectLst>
            </a:endParaRPr>
          </a:p>
        </p:txBody>
      </p:sp>
      <p:sp>
        <p:nvSpPr>
          <p:cNvPr id="3" name="Content Placeholder 2"/>
          <p:cNvSpPr>
            <a:spLocks noGrp="1"/>
          </p:cNvSpPr>
          <p:nvPr>
            <p:ph idx="1"/>
          </p:nvPr>
        </p:nvSpPr>
        <p:spPr/>
        <p:txBody>
          <a:bodyPr>
            <a:normAutofit fontScale="70000" lnSpcReduction="20000"/>
          </a:bodyPr>
          <a:lstStyle/>
          <a:p>
            <a:r>
              <a:rPr lang="en-US" dirty="0" smtClean="0"/>
              <a:t>Done:</a:t>
            </a:r>
          </a:p>
          <a:p>
            <a:r>
              <a:rPr lang="en-US" dirty="0" smtClean="0"/>
              <a:t>1) Describe the model in details</a:t>
            </a:r>
          </a:p>
          <a:p>
            <a:r>
              <a:rPr lang="en-US" dirty="0" smtClean="0"/>
              <a:t>2) Set-up agents’ characteristics </a:t>
            </a:r>
          </a:p>
          <a:p>
            <a:endParaRPr lang="en-US" dirty="0"/>
          </a:p>
          <a:p>
            <a:r>
              <a:rPr lang="en-US" dirty="0" smtClean="0"/>
              <a:t>In Progress: </a:t>
            </a:r>
          </a:p>
          <a:p>
            <a:r>
              <a:rPr lang="en-US" dirty="0" smtClean="0"/>
              <a:t>1) Tune Marriage Characteristics</a:t>
            </a:r>
          </a:p>
          <a:p>
            <a:endParaRPr lang="en-US" dirty="0"/>
          </a:p>
          <a:p>
            <a:r>
              <a:rPr lang="en-US" dirty="0" smtClean="0"/>
              <a:t>Planning:</a:t>
            </a:r>
          </a:p>
          <a:p>
            <a:r>
              <a:rPr lang="en-US" dirty="0" smtClean="0"/>
              <a:t>1) Set up distribution among subzones</a:t>
            </a:r>
          </a:p>
          <a:p>
            <a:r>
              <a:rPr lang="en-US" dirty="0" smtClean="0"/>
              <a:t>2) Compare the forecast with other forecasts</a:t>
            </a:r>
          </a:p>
          <a:p>
            <a:r>
              <a:rPr lang="en-US" dirty="0" smtClean="0"/>
              <a:t>3) Make 2005 – 2018 forecast and compare with real situation (using 1990 – 2004 approximation)</a:t>
            </a:r>
          </a:p>
          <a:p>
            <a:r>
              <a:rPr lang="en-US" dirty="0" smtClean="0"/>
              <a:t>4) Rules to change area/subzone</a:t>
            </a:r>
          </a:p>
          <a:p>
            <a:r>
              <a:rPr lang="en-US" dirty="0" smtClean="0"/>
              <a:t>5) Calculate error of the model</a:t>
            </a:r>
            <a:endParaRPr lang="en-SG" dirty="0"/>
          </a:p>
        </p:txBody>
      </p:sp>
    </p:spTree>
    <p:extLst>
      <p:ext uri="{BB962C8B-B14F-4D97-AF65-F5344CB8AC3E}">
        <p14:creationId xmlns:p14="http://schemas.microsoft.com/office/powerpoint/2010/main" val="15313307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TM04033929[[fn=Slate]]</Template>
  <TotalTime>12937</TotalTime>
  <Words>1804</Words>
  <Application>Microsoft Office PowerPoint</Application>
  <PresentationFormat>Widescreen</PresentationFormat>
  <Paragraphs>141</Paragraphs>
  <Slides>35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Calisto MT</vt:lpstr>
      <vt:lpstr>Calibri</vt:lpstr>
      <vt:lpstr>Trebuchet MS</vt:lpstr>
      <vt:lpstr>Wingdings 2</vt:lpstr>
      <vt:lpstr>Slate</vt:lpstr>
      <vt:lpstr>MULTI-AGENT MODEL</vt:lpstr>
      <vt:lpstr>Information</vt:lpstr>
      <vt:lpstr>Information about Total Resident Population</vt:lpstr>
      <vt:lpstr>Information about Fertility Rates and Births</vt:lpstr>
      <vt:lpstr>Information about deaths</vt:lpstr>
      <vt:lpstr>Information about non-Resident Population</vt:lpstr>
      <vt:lpstr>Information about Marital Status of Singaporeans</vt:lpstr>
      <vt:lpstr>Information about Marriage Rates</vt:lpstr>
      <vt:lpstr>Information about  Divorce Rates</vt:lpstr>
      <vt:lpstr>Creating initial population</vt:lpstr>
      <vt:lpstr>Characteristics</vt:lpstr>
      <vt:lpstr>Characteristics</vt:lpstr>
      <vt:lpstr>Approximation of Rates (death rates)</vt:lpstr>
      <vt:lpstr>Approximation of Rates (birth rates)</vt:lpstr>
      <vt:lpstr>Approximation of Rates (marry rates)</vt:lpstr>
      <vt:lpstr>Approximation of Rates (divorce rates)</vt:lpstr>
      <vt:lpstr>Approximation of Rates (ALL)</vt:lpstr>
      <vt:lpstr>Approximation of Non-Residents</vt:lpstr>
      <vt:lpstr>The events</vt:lpstr>
      <vt:lpstr>Simulation</vt:lpstr>
      <vt:lpstr>Simulation</vt:lpstr>
      <vt:lpstr>Simulation</vt:lpstr>
      <vt:lpstr>Simulation</vt:lpstr>
      <vt:lpstr>Simulation</vt:lpstr>
      <vt:lpstr>Simulation</vt:lpstr>
      <vt:lpstr>Simulation</vt:lpstr>
      <vt:lpstr>Simulation</vt:lpstr>
      <vt:lpstr>Simulation</vt:lpstr>
      <vt:lpstr>Simulation</vt:lpstr>
      <vt:lpstr>Simulation</vt:lpstr>
      <vt:lpstr>Simulation</vt:lpstr>
      <vt:lpstr>Simulation</vt:lpstr>
      <vt:lpstr>Simulation</vt:lpstr>
      <vt:lpstr>Simulation</vt:lpstr>
      <vt:lpstr>Current State</vt:lpstr>
    </vt:vector>
  </TitlesOfParts>
  <Company>Nanyang Technological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AED PLACEMENT</dc:title>
  <dc:creator>Nanyang Technological University</dc:creator>
  <cp:lastModifiedBy>Nanyang Technological University</cp:lastModifiedBy>
  <cp:revision>128</cp:revision>
  <dcterms:created xsi:type="dcterms:W3CDTF">2019-12-02T09:47:25Z</dcterms:created>
  <dcterms:modified xsi:type="dcterms:W3CDTF">2020-03-19T08:39:51Z</dcterms:modified>
</cp:coreProperties>
</file>